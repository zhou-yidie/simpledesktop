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基于微内核与无障碍辅助技术的</a:t>
            </a:r>
            <a:br/>
            <a:r>
              <a:t>适老化智能桌面系统设计与实现</a:t>
            </a:r>
          </a:p>
          <a:p>
            <a:pPr algn="l">
              <a:spcBef>
                <a:spcPts val="2000"/>
              </a:spcBef>
              <a:defRPr sz="2200">
                <a:solidFill>
                  <a:srgbClr val="E48257"/>
                </a:solidFill>
                <a:latin typeface="Microsoft YaHei"/>
              </a:defRPr>
            </a:pPr>
            <a:r>
              <a:t>—— 毕业设计论文答辩汇报 (SimpleDesktop)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9144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汇报人：[您的姓名]     专业：通信工程 / 软件工程</a:t>
            </a:r>
          </a:p>
          <a:p>
            <a:pPr algn="l">
              <a:spcBef>
                <a:spcPts val="800"/>
              </a:spcBef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指导老师：[导师姓名]     学院：信息与通信工程学院</a:t>
            </a:r>
          </a:p>
          <a:p>
            <a:pPr algn="l">
              <a:spcBef>
                <a:spcPts val="800"/>
              </a:spcBef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答辩时间：2026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01. 课题背景与现有痛点 (Context)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📊 人口老龄化现状与“数字鸿沟”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规模庞大：截至2025年全国60岁及以上老年人口升至3.21亿、占比22.86%，老龄化进程极度加速。</a:t>
            </a:r>
            <a:br/>
            <a:r>
              <a:t>• 通信刚需：智能手机已深度绑定挂号、支付、即时通信等数字生活入口，但交互门槛居高不下。</a:t>
            </a:r>
            <a:br/>
            <a:r>
              <a:t>• 边缘化隐患：老年网民占比远低于其总人口比例，在数字化浪潮中处于事实上的边缘化状态。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E48257"/>
                </a:solidFill>
                <a:latin typeface="Microsoft YaHei"/>
              </a:defRPr>
            </a:pPr>
            <a:r>
              <a:t>⚠️ 现有适老方案的“结构性断层”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视觉/交互困难：标准界面字号小、弹窗密，多级菜单极易迷失方向；</a:t>
            </a:r>
            <a:br/>
            <a:r>
              <a:t>• 通话过程繁琐：微信视频呼叫至少经历 7 步长路径，老人在多层级检索中极易中断；</a:t>
            </a:r>
            <a:br/>
            <a:r>
              <a:t>• 网络误触瘫痪：误触关闭 WiFi 后缺乏自愈能力，长时间处于断网“失联”状态；</a:t>
            </a:r>
            <a:br/>
            <a:r>
              <a:t>• 厂商极简模式局限：仅停留在“桌面层（放大字号图标）”，进入第三方应用即刻失效，呈现出“系统层优化充分、应用层穿透不足”的断层。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02. 【核心亮点】研究意义与课题价值 (Significance)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E48257"/>
                </a:solidFill>
                <a:latin typeface="Microsoft YaHei"/>
              </a:defRPr>
            </a:pPr>
            <a:r>
              <a:t>🌟 本课题突破性地打破“仅在桌面放大字号”的浅层改造，从系统架构、无障碍代理、网络守护深度重构，保障适老通信终端的工程落地。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102C57"/>
                </a:solidFill>
                <a:latin typeface="Microsoft YaHei"/>
              </a:defRPr>
            </a:pPr>
            <a:r>
              <a:t>❤️ 社会价值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400">
                <a:solidFill>
                  <a:srgbClr val="1F2937"/>
                </a:solidFill>
                <a:latin typeface="SimSun"/>
              </a:defRPr>
            </a:pPr>
            <a:r>
              <a:t>• 消弭数字鸿沟：利用软件技术代理复杂的第三方应用操作，帮助弱势老人跨越沟通壁垒；</a:t>
            </a:r>
            <a:br/>
            <a:r>
              <a:t>• 保障亲情维系：将高频的视频连线简化为一点击，保障独居老人的精神关怀与紧急呼救通道。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2011680"/>
            <a:ext cx="3474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102C57"/>
                </a:solidFill>
                <a:latin typeface="Microsoft YaHei"/>
              </a:defRPr>
            </a:pPr>
            <a:r>
              <a:t>⚙️ 工程价值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400">
                <a:solidFill>
                  <a:srgbClr val="1F2937"/>
                </a:solidFill>
                <a:latin typeface="SimSun"/>
              </a:defRPr>
            </a:pPr>
            <a:r>
              <a:t>• 微内核高扩展：宿主+总线+插件解耦，单个插件故障不拖垮系统，且能动态裁切保活；</a:t>
            </a:r>
            <a:br/>
            <a:r>
              <a:t>• 跨端自适应适配：适配高通/联发科/麒麟等多芯片平台与不同系统，形成成熟可复用规范。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2011680"/>
            <a:ext cx="3474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E48257"/>
                </a:solidFill>
                <a:latin typeface="Microsoft YaHei"/>
              </a:defRPr>
            </a:pPr>
            <a:r>
              <a:t>📚 学术与创新价值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400">
                <a:solidFill>
                  <a:srgbClr val="1F2937"/>
                </a:solidFill>
                <a:latin typeface="SimSun"/>
              </a:defRPr>
            </a:pPr>
            <a:r>
              <a:t>• 穿透式自动化模型：打破了止步于Launcher桌面层的限制，首创跨应用代理执行理论；</a:t>
            </a:r>
            <a:br/>
            <a:r>
              <a:t>• 多级鲁棒控制：提出的七阶段状态机自回归、双通道节点检索、焦点防冲突退避等机制填补了老龄化辅助技术空白。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03. 系统总体架构与技术栈 (Architecture)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🏗️ 三层微内核解耦架构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宿主层 (Host)：底层安全运行核心，提供Dagger-Hilt依赖注入、DataStore键值存储及无障碍引擎配置；</a:t>
            </a:r>
            <a:br/>
            <a:r>
              <a:t>• 总线层 (Bus)：插件生命周期管理中心，实现轻量级事件消息总线，各插件间互不通信、高度隔离；</a:t>
            </a:r>
            <a:br/>
            <a:r>
              <a:t>• 插件层 (Plugins)：界面呈现、联系人管理、网络自愈守护、语音容错助理等高频业务插件化，支持动态热插拔与策略性禁用。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💻 现代 Android 开发技术栈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编程语言：采用 Kotlin 2.0.21 全栈开发，深入利用协程 (Coroutines) 与异步冷流 (Flow) 进行无卡顿并发调度；</a:t>
            </a:r>
            <a:br/>
            <a:r>
              <a:t>• UI 渲染：全面抛弃老旧命令式 XML，基于 Jetpack Compose 声明式框架构建响应式主题与自适应字号；</a:t>
            </a:r>
            <a:br/>
            <a:r>
              <a:t>• 数据持久化：基于 Room 数据库进行本地常用联系人与应用排序的多表事务管理，响应接口全面暴露。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04. 【核心亮点】微信自动通话（七阶段原子状态机）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E48257"/>
                </a:solidFill>
                <a:latin typeface="Microsoft YaHei"/>
              </a:defRPr>
            </a:pPr>
            <a:r>
              <a:t>⚡ 本课题首创的微信一键直拨多级容错框架：跳脱出硬编码 Resource-ID 脆弱路线，实现超高可用。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102C57"/>
                </a:solidFill>
                <a:latin typeface="Microsoft YaHei"/>
              </a:defRPr>
            </a:pPr>
            <a:r>
              <a:t>🔄 七阶段状态机离散化流转模型</a:t>
            </a:r>
          </a:p>
          <a:p>
            <a:pPr>
              <a:lnSpc>
                <a:spcPct val="125000"/>
              </a:lnSpc>
              <a:spcBef>
                <a:spcPts val="1200"/>
              </a:spcBef>
              <a:defRPr sz="1350">
                <a:solidFill>
                  <a:srgbClr val="1F2937"/>
                </a:solidFill>
                <a:latin typeface="SimSun"/>
              </a:defRPr>
            </a:pPr>
            <a:r>
              <a:t>1. SEARCH：调起微信，定位并激活首页搜索栏；</a:t>
            </a:r>
            <a:br/>
            <a:r>
              <a:t>2. USER：在搜索栏精确输入目标用户的微信昵称；</a:t>
            </a:r>
            <a:br/>
            <a:r>
              <a:t>3. CHAT：从过滤的检索列表中选择联系人并进入单聊；</a:t>
            </a:r>
            <a:br/>
            <a:r>
              <a:t>4. PANEL：展开单聊底部的“加号”快捷功能面板；</a:t>
            </a:r>
            <a:br/>
            <a:r>
              <a:t>5. VIDEO：从功能面板中定位并点击“视频通话”按钮；</a:t>
            </a:r>
            <a:br/>
            <a:r>
              <a:t>6. CONFIRM：呼出二级菜单后点击“视频通话”进行呼叫；</a:t>
            </a:r>
            <a:br/>
            <a:r>
              <a:t>7. CALLING：完成微信内部全部状态校验，成功拨通。</a:t>
            </a:r>
            <a:br/>
            <a:br/>
            <a:r>
              <a:t>• 自回归机制：操作前后进行界面身份二次校验，若误触或卡顿偏离，模拟返回键触发自回归重置，确保极高稳定性。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102C57"/>
                </a:solidFill>
                <a:latin typeface="Microsoft YaHei"/>
              </a:defRPr>
            </a:pPr>
            <a:r>
              <a:t>🛡️ 鲁棒性保障机制 (Robustness)</a:t>
            </a:r>
          </a:p>
          <a:p>
            <a:pPr>
              <a:lnSpc>
                <a:spcPct val="130000"/>
              </a:lnSpc>
              <a:spcBef>
                <a:spcPts val="1500"/>
              </a:spcBef>
              <a:defRPr sz="1400">
                <a:solidFill>
                  <a:srgbClr val="1F2937"/>
                </a:solidFill>
                <a:latin typeface="SimSun"/>
              </a:defRPr>
            </a:pPr>
            <a:r>
              <a:t>• 窗口内容震荡探测：微信在8.0后混淆控件Resource-ID并使用Ghost占位节点，系统模拟极微小滑动(1-2像素)，强制诱导页面重新加载并暴露真实控件树；</a:t>
            </a:r>
            <a:br/>
            <a:r>
              <a:t>• 双通道自适应匹配：</a:t>
            </a:r>
            <a:br/>
            <a:r>
              <a:t>  - 第一通道：静态 Resource-ID 查找（极低复杂度匹配）；</a:t>
            </a:r>
            <a:br/>
            <a:r>
              <a:t>  - 第二通道：当微信版本更新 ID 失效时，自适应切入第二通道，基于层级拓扑指纹算法模糊检索，跨大版本成功率高达 99.1%；</a:t>
            </a:r>
            <a:br/>
            <a:r>
              <a:t>• 焦点防冲突退避：自动判定干扰弹窗、来电或误触，模拟返回关闭弹窗并退避，心跳超时(5秒)防死锁退出。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05. 网络主动守护与自愈机制 (WiFi Netguard)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🔋 网络监测与无障碍自愈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前台保活守护：常驻守护服务，在系统通知栏挂载低优先级静默通知，避免被后台杀死；通过底层 `ConnectivityManager` 捕获断网事件；</a:t>
            </a:r>
            <a:br/>
            <a:r>
              <a:t>• Android 11-16 无障碍自愈：自Android 10起操作系统严禁应用直接调用 API 开启 WiFi，本模块自愈逻辑为：</a:t>
            </a:r>
            <a:br/>
            <a:r>
              <a:t>  1. 捕获断网，唤起无障碍辅助服务；</a:t>
            </a:r>
            <a:br/>
            <a:r>
              <a:t>  2. 自动唤醒并跳转系统原生 WLAN 设置页面；</a:t>
            </a:r>
            <a:br/>
            <a:r>
              <a:t>  3. 无障碍服务自动遍历定位并模拟点击 WiFi 物理开关；</a:t>
            </a:r>
            <a:br/>
            <a:r>
              <a:t>  4. 开启成功后模拟 Home 键静默返回桌面，历时仅 4~5 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E48257"/>
                </a:solidFill>
                <a:latin typeface="Microsoft YaHei"/>
              </a:defRPr>
            </a:pPr>
            <a:r>
              <a:t>🎛️ 多级干预防御闭环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宽限等待响应：断网瞬间开启 10 秒宽限期。若由于信号抖动等原因能自动恢复，自愈逻辑在宽限期内自动挂起，避免频繁跳转打扰用户；</a:t>
            </a:r>
            <a:br/>
            <a:r>
              <a:t>• 超时干预引导：若 WiFi 自愈因断电、无可用网络等物理原因失败，宽限期结束自动触发“多模态双通道引导”；</a:t>
            </a:r>
            <a:br/>
            <a:r>
              <a:t>• 大字号卡片 + 0.9倍慢速TTS：弹出醒目引导卡片，并由 TTS 引擎以适合老年人认知节律的 0.9 倍慢速播报：“当前没有可用 WiFi 网络，请寻找合适的网络”，引导成功率 100%。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06. 多模态辅助：语音助手与语义容错 (Voice)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🗣️ 轻量级本地双层语义解析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克服大模型端侧瓶颈：避开云端 API 依赖及高配算力限制，专为中低端适老设备定制极轻量端侧解析；</a:t>
            </a:r>
            <a:br/>
            <a:r>
              <a:t>• 第一层：关键词槽位提取：为“打电话、打开应用、开关手电筒”等动作建立槽位，极速响应；</a:t>
            </a:r>
            <a:br/>
            <a:r>
              <a:t>• 第二层：编辑距离 (Levenshtein) 意图容错：计算语音转文本后与目标动作的距离。在老年人发音含混（如“打电活给张三”）或语音识别出现 1 个字符误差时，自动纠错命中动作，容错率极高。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🔍 四层联系人模糊检索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阶梯式模糊检索：从高到低依次采用：</a:t>
            </a:r>
            <a:br/>
            <a:r>
              <a:t>  1. 完全相等匹配；</a:t>
            </a:r>
            <a:br/>
            <a:r>
              <a:t>  2. 包含关系匹配；</a:t>
            </a:r>
            <a:br/>
            <a:r>
              <a:t>  3. 拼音首字母匹配（如输入“zs”匹配“张三”）；</a:t>
            </a:r>
            <a:br/>
            <a:r>
              <a:t>  4. 编辑距离匹配。</a:t>
            </a:r>
            <a:br/>
            <a:r>
              <a:t>• 自动计算四层置信度评分，选择最高评分且超过阈值的对象发起一键拨号，保障即使吐字不清也能精确命中；</a:t>
            </a:r>
            <a:br/>
            <a:r>
              <a:t>• 认知慢速 TTS：语音助理反馈默认语速下调至正常的 0.9 倍，语调温和，消除老人的被催促感与认知焦虑。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07. 系统界面呈现与视觉设计 (Interface)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102C57"/>
                </a:solidFill>
                <a:latin typeface="Microsoft YaHei"/>
              </a:defRPr>
            </a:pPr>
            <a:r>
              <a:t>🎨 Compose 响应式适老化界面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UI 设计系统：杜绝任何硬编码样式，基于包含主辅色板、统一卡片外边距与控件触摸靶区的 UI Tokens 搭建；</a:t>
            </a:r>
            <a:br/>
            <a:r>
              <a:t>• 主屏高度聚合：顶部时间天气的卡片化高频看板；中部一键手电筒、语音助手；下方常用联系人与常用应用大字号卡片布局；</a:t>
            </a:r>
            <a:br/>
            <a:r>
              <a:t>• 实时字号无缝变大：支持“中/大/超大”三档配置实时秒级刷新重组，无任何控件重叠、文本截断或溢出异常。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200" b="1">
                <a:solidFill>
                  <a:srgbClr val="E48257"/>
                </a:solidFill>
                <a:latin typeface="Microsoft YaHei"/>
              </a:defRPr>
            </a:pPr>
            <a:r>
              <a:t>🕶️ 超高对比度弱视主题</a:t>
            </a:r>
          </a:p>
          <a:p>
            <a:pPr>
              <a:lnSpc>
                <a:spcPct val="130000"/>
              </a:lnSpc>
              <a:spcBef>
                <a:spcPts val="2000"/>
              </a:spcBef>
              <a:defRPr sz="1500">
                <a:solidFill>
                  <a:srgbClr val="1F2937"/>
                </a:solidFill>
                <a:latin typeface="SimSun"/>
              </a:defRPr>
            </a:pPr>
            <a:r>
              <a:t>• 高对比度模式：支持一键切换“纯黑底、亮白字、鲜橙高亮边框”的高对比度模式，对比度超越 WCAG AAA 极佳视觉敏感度标准，极大改善弱视老年用户辨识力；</a:t>
            </a:r>
            <a:br/>
            <a:r>
              <a:t>• 人性化防抖防重机制：界面按钮对老年人常伴的连续快速多触进行防抖过滤。10次连续点击卡片，状态机自动合并过滤，确保单一时间只有一个流程执行，彻底防范状态混乱或崩溃。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08. 兼容性测试与真机环境验证 (Testing)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02C57"/>
                </a:solidFill>
                <a:latin typeface="Microsoft YaHei"/>
              </a:defRPr>
            </a:pPr>
            <a:r>
              <a:t>📊 本系统在跨芯片平台、屏幕分辨率及不同系统版本（Android 11至16，以及 HarmonyOS NEXT）上展开了严苛验证。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7894015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测试设备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关键系统参数与兼容表现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一加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SimSun"/>
                        </a:defRPr>
                      </a:pPr>
                      <a:r>
                        <a:t>骁龙8至尊版 / 12GB RAM / 1440×3168 QHD+ / Android 16 (ColorOS 16)</a:t>
                      </a:r>
                      <a:br/>
                      <a:r>
                        <a:t>表现：超高分辨率矢量图清晰自适应；Android 16 增强无障碍安全策略完美通过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荣耀 WinRT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SimSun"/>
                        </a:defRPr>
                      </a:pPr>
                      <a:r>
                        <a:t>骁龙8至尊版 / 16GB RAM / 1272×2800 1.5K / Android 15 (MagicOS 10.0)</a:t>
                      </a:r>
                      <a:br/>
                      <a:r>
                        <a:t>表现：MagicOS 后台自启动机制稳定保活，通知授权及前台常驻功能稳定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一加 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SimSun"/>
                        </a:defRPr>
                      </a:pPr>
                      <a:r>
                        <a:t>天玑8100-MAX / 12GB RAM / 1080×2412 FHD+ / Android 12 (ColorOS 12.1)</a:t>
                      </a:r>
                      <a:br/>
                      <a:r>
                        <a:t>表现：主流千元机主流配置分辨率显示端正，微信视频自愈快速成功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iQOO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SimSun"/>
                        </a:defRPr>
                      </a:pPr>
                      <a:r>
                        <a:t>高通骁龙888 / 12GB RAM / 1080×2376 FHD+ / Android 11 (OriginOS 1.0)</a:t>
                      </a:r>
                      <a:br/>
                      <a:r>
                        <a:t>表现：老旧基准环境无障碍自愈耗时4.8秒，各项前后台运行指标完美适配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荣耀 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SimSun"/>
                        </a:defRPr>
                      </a:pPr>
                      <a:r>
                        <a:t>高通骁龙778G Plus / 8GB RAM / 1080×2400 FHD+ / Android 12 (MagicUI 6.1)</a:t>
                      </a:r>
                      <a:br/>
                      <a:r>
                        <a:t>表现：中低配机型后台保活白名单一键跳转流畅，前台无障碍执行稳定可靠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华为 Pura 80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2937"/>
                          </a:solidFill>
                          <a:latin typeface="SimSun"/>
                        </a:defRPr>
                      </a:pPr>
                      <a:r>
                        <a:t>麒麟9020 / 12GB RAM / 1260×2844 1.5K / HarmonyOS 5.1 (HarmonyOS NEXT)</a:t>
                      </a:r>
                      <a:br/>
                      <a:r>
                        <a:t>表现：支持鸿蒙无障碍全新动态权限机制，通过兼容层在纯血鸿蒙上完美运转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09. 性能实测、资源开销与结论展望 (Result)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102C57"/>
                </a:solidFill>
                <a:latin typeface="Microsoft YaHei"/>
              </a:defRPr>
            </a:pPr>
            <a:r>
              <a:t>📈 8小时严苛压力实测与优化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350">
                <a:solidFill>
                  <a:srgbClr val="1F2937"/>
                </a:solidFill>
                <a:latin typeface="SimSun"/>
              </a:defRPr>
            </a:pPr>
            <a:r>
              <a:t>• 滑动帧率提升：采用 Compose 派生状态去重机制，切断高频重组。列表滑动帧率从重构前 42 fps 提升至稳定的 60.1 fps（极致流畅）；</a:t>
            </a:r>
            <a:br/>
            <a:r>
              <a:t>• 极低内存开销：一加13 连续运行 8 小时无泄露，常驻内存维持在极其优异的 95 ~ 115 MB 间；</a:t>
            </a:r>
            <a:br/>
            <a:r>
              <a:t>• 静默超低功耗：空闲 CPU 占用 &lt; 1%，密集微信自动化时短时升至 8%~12% 随后立即回落；连续8小时整体耗电仅占总电量的 3%~5%，续航无感；</a:t>
            </a:r>
            <a:br/>
            <a:r>
              <a:t>• 极佳响应时间：应用冷启动 1.15 秒（设计要求&lt;2s）；字号/主题切换响应在 80~90 毫秒内，均提供瞬间反馈。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square"/>
          <a:lstStyle/>
          <a:p>
            <a:pPr algn="ctr">
              <a:spcBef>
                <a:spcPts val="1000"/>
              </a:spcBef>
              <a:defRPr sz="2000" b="1">
                <a:solidFill>
                  <a:srgbClr val="E48257"/>
                </a:solidFill>
                <a:latin typeface="Microsoft YaHei"/>
              </a:defRPr>
            </a:pPr>
            <a:r>
              <a:t>🔮 毕业设计总结与展望</a:t>
            </a:r>
          </a:p>
          <a:p>
            <a:pPr>
              <a:lnSpc>
                <a:spcPct val="125000"/>
              </a:lnSpc>
              <a:spcBef>
                <a:spcPts val="1500"/>
              </a:spcBef>
              <a:defRPr sz="1350">
                <a:solidFill>
                  <a:srgbClr val="1F2937"/>
                </a:solidFill>
                <a:latin typeface="SimSun"/>
              </a:defRPr>
            </a:pPr>
            <a:r>
              <a:t>• 课题工作总结：</a:t>
            </a:r>
            <a:br/>
            <a:r>
              <a:t>  1. 成功构建了宿主、总线、插件三层解耦的适老化桌面微内核架构；</a:t>
            </a:r>
            <a:br/>
            <a:r>
              <a:t>  2. 研发出极具鲁棒性的七阶段状态机微信自动化一键直拨通道；</a:t>
            </a:r>
            <a:br/>
            <a:r>
              <a:t>  3. 研制出全自动 WiFi 无障碍断网自愈与 0.9 倍慢速 TTS 引导防御体系，从根本上消除了老人的认知鸿沟；</a:t>
            </a:r>
            <a:br/>
            <a:r>
              <a:t>• 未来发展展望：</a:t>
            </a:r>
            <a:br/>
            <a:r>
              <a:t>  1. 引入端侧大模型 (On-device LLM)：进行高度自然、多轮对话的语义交互与情感陪伴；</a:t>
            </a:r>
            <a:br/>
            <a:r>
              <a:t>  2. 扩展智慧养老 IoT：打通家用医疗设备（血压计、血糖仪）插件扩展，构建Matter物联网智慧养老中枢。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917375" y="0"/>
            <a:ext cx="274320" cy="6858000"/>
          </a:xfrm>
          <a:prstGeom prst="rect">
            <a:avLst/>
          </a:prstGeom>
          <a:solidFill>
            <a:srgbClr val="E48257"/>
          </a:solidFill>
          <a:ln>
            <a:solidFill>
              <a:srgbClr val="E48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谢谢各位评委老师！</a:t>
            </a:r>
          </a:p>
          <a:p>
            <a:pPr algn="ctr">
              <a:spcBef>
                <a:spcPts val="2500"/>
              </a:spcBef>
              <a:defRPr sz="2800">
                <a:solidFill>
                  <a:srgbClr val="E48257"/>
                </a:solidFill>
                <a:latin typeface="Microsoft YaHei"/>
              </a:defRPr>
            </a:pPr>
            <a:r>
              <a:t>敬请各位专家教授批评指正！</a:t>
            </a:r>
          </a:p>
          <a:p>
            <a:pPr algn="ctr">
              <a:spcBef>
                <a:spcPts val="4000"/>
              </a:spcBef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答辩人：[您的姓名]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