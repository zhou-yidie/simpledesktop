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基于微内核与无障碍辅助技术的</a:t>
            </a:r>
            <a:br/>
            <a:r>
              <a:t>适老化智能桌面系统设计与实现</a:t>
            </a:r>
          </a:p>
          <a:p>
            <a:pPr algn="l">
              <a:spcBef>
                <a:spcPts val="2000"/>
              </a:spcBef>
              <a:defRPr sz="2200">
                <a:solidFill>
                  <a:srgbClr val="E48257"/>
                </a:solidFill>
                <a:latin typeface="Microsoft YaHei"/>
              </a:defRPr>
            </a:pPr>
            <a:r>
              <a:t>—— 毕业设计论文答辩汇报 (SimpleDesktop)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144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汇报人：[您的姓名]     专业：通信工程 / 软件工程</a:t>
            </a:r>
          </a:p>
          <a:p>
            <a:pPr algn="l">
              <a:spcBef>
                <a:spcPts val="800"/>
              </a:spcBef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指导老师：[导师姓名]     学院：信息与通信工程学院</a:t>
            </a:r>
          </a:p>
          <a:p>
            <a:pPr algn="l">
              <a:spcBef>
                <a:spcPts val="800"/>
              </a:spcBef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答辩时间：2026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01. 课题背景与现有痛点 (Context)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📊 痛点剖析与适老需求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老龄化形势严峻：</a:t>
            </a:r>
            <a:br/>
            <a:r>
              <a:t>  2025年全国老年人口达3.21亿(占比22.86%)，老龄化进程提速。</a:t>
            </a:r>
            <a:br/>
            <a:r>
              <a:t>• 现有极简模式断层：</a:t>
            </a:r>
            <a:br/>
            <a:r>
              <a:t>  传统厂商极简模式仅停留在桌面层（大字号图标），一旦进入第三方应用立刻失效——“系统层优化充分、应用层穿透不足”。</a:t>
            </a:r>
            <a:br/>
            <a:r>
              <a:t>• 通信与网络壁垒：</a:t>
            </a:r>
            <a:br/>
            <a:r>
              <a:t>  微信通话操作繁多（需7步）；断网后缺乏自愈能力，误触即失联。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📈 老年人口及占比变动趋势图</a:t>
            </a:r>
          </a:p>
        </p:txBody>
      </p:sp>
      <p:pic>
        <p:nvPicPr>
          <p:cNvPr id="7" name="Picture 6" descr="fig1_1_aging_popula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846320" cy="2949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02. 【核心亮点】研究意义与架构对比 (Significance)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🌟 三维立体研究与工程价值</a:t>
            </a:r>
          </a:p>
          <a:p>
            <a:pPr>
              <a:lnSpc>
                <a:spcPct val="135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社会价值：消弭“数字鸿沟”，将多步繁琐沟通转化为一键直达，保障独居老人亲情维系与急救。</a:t>
            </a:r>
            <a:br/>
            <a:r>
              <a:t>• 工程价值：设计宿主+总线+插件的三层微内核，实现业务故障隔离与低配终端动态保活。</a:t>
            </a:r>
            <a:br/>
            <a:r>
              <a:t>• 学术与创新价值：打破传统“止步于Launcher桌面”的限制，首创“穿透式无障碍自动代理”理论与多级鲁棒控制算法。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🔄 传统改造 vs 穿透式无障碍架构对比</a:t>
            </a:r>
          </a:p>
        </p:txBody>
      </p:sp>
      <p:pic>
        <p:nvPicPr>
          <p:cNvPr id="7" name="Picture 6" descr="fig1_3_architectur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029200" cy="21440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03. 系统总体架构与技术解耦 (Architecture)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🏗️ 三层微内核架构拓扑</a:t>
            </a:r>
          </a:p>
          <a:p>
            <a:pPr>
              <a:lnSpc>
                <a:spcPct val="135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宿主层 (Host)：系统稳定核心。提供统一生命周期、Dagger-Hilt依赖注入、DataStore本地加密存储。</a:t>
            </a:r>
            <a:br/>
            <a:r>
              <a:t>• 总线层 (Bus)：插件管理枢纽。基于消息总线发布/订阅模型，隔离各插件，杜绝级联崩溃。</a:t>
            </a:r>
            <a:br/>
            <a:r>
              <a:t>• 插件层 (Plugins)：高频业务高度插件化。主屏、联系人、自愈网络及语音助手热插拔，可按需精简。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🧩 SimpleDesktop 系统核心功能模块结构</a:t>
            </a:r>
          </a:p>
        </p:txBody>
      </p:sp>
      <p:pic>
        <p:nvPicPr>
          <p:cNvPr id="7" name="Picture 6" descr="fig3_1_system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228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04. 【核心亮点】微信自动通话（七阶段原子状态机）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02C57"/>
                </a:solidFill>
                <a:latin typeface="Microsoft YaHei"/>
              </a:defRPr>
            </a:pPr>
            <a:r>
              <a:t>🔄 离散原子流转与多级鲁棒控制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七阶段流程离散化：</a:t>
            </a:r>
            <a:br/>
            <a:r>
              <a:t>  SEARCH $\rightarrow$ USER $\rightarrow$ CHAT $\rightarrow$ PANEL $\rightarrow$ VIDEO $\rightarrow$ CONFIRM $\rightarrow$ CALLING，实现拨视频一点击直达。</a:t>
            </a:r>
            <a:br/>
            <a:r>
              <a:t>• 强容错鲁棒技术：</a:t>
            </a:r>
            <a:br/>
            <a:r>
              <a:t>  - 自回归机制：阶段流转前/后校验界面身份，如被卡顿或误触中断，模拟返回键重置触发自回归，成功率达 99.1%。</a:t>
            </a:r>
            <a:br/>
            <a:r>
              <a:t>  - 双通道定位：Resource-ID定位+层级拓扑模糊检索，完美抵御微信版本更新混淆。</a:t>
            </a:r>
            <a:br/>
            <a:r>
              <a:t>  - 焦点退避：自动识别来电或广告干扰并退避，5秒心跳锁死防发热。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🎬 微信一键直拨七阶段状态机流程图</a:t>
            </a:r>
          </a:p>
        </p:txBody>
      </p:sp>
      <p:pic>
        <p:nvPicPr>
          <p:cNvPr id="7" name="Picture 6" descr="wechat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11680"/>
            <a:ext cx="4297680" cy="47905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05. 网络主动守护与自愈机制 (WiFi Netguard)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🔋 监测保活与无障碍自愈闭环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常驻前台保活：挂载低优先级静默通知防止守护服务被后台杀死；通过底层广播捕获断网瞬间。</a:t>
            </a:r>
            <a:br/>
            <a:r>
              <a:t>• Android 11-16 无障碍自愈：克服Android 10以上禁封直接调用开启 API 限制。</a:t>
            </a:r>
            <a:br/>
            <a:r>
              <a:t>  断网瞬间唤起无障碍辅助 $\rightarrow$ 跳转系统原生WLAN设置页 $\rightarrow$ 自动遍历定位并模拟点击WiFi开关 $\rightarrow$ 成功后模拟Home键返回。全程仅需 4~5 秒且老人无感。</a:t>
            </a:r>
            <a:br/>
            <a:r>
              <a:t>• 多级防御宽限期：设置 10 秒宽限期过滤短暂抖动；若物理故障失败则触发 0.9 倍慢速 TTS 语音播报及引导卡片。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🛡️ WiFi 网络守护与自愈机制流程</a:t>
            </a:r>
          </a:p>
        </p:txBody>
      </p:sp>
      <p:pic>
        <p:nvPicPr>
          <p:cNvPr id="7" name="Picture 6" descr="wifi_daem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717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06. 多模态辅助：语音助手与语义容错 (Voice)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🗣️ 本地极轻量双层解析与容错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50">
                <a:solidFill>
                  <a:srgbClr val="1F2937"/>
                </a:solidFill>
                <a:latin typeface="SimSun"/>
              </a:defRPr>
            </a:pPr>
            <a:r>
              <a:t>• 双层轻量语义解析：</a:t>
            </a:r>
            <a:br/>
            <a:r>
              <a:t>  - 第一层：关键词槽位提取，专为中低配机型设计，不依赖云 API。</a:t>
            </a:r>
            <a:br/>
            <a:r>
              <a:t>  - 第二层：编辑距离 (Levenshtein) 容错。允许发音模糊或 1 字误差（如“打电活给张三”）自动命中意图。</a:t>
            </a:r>
            <a:br/>
            <a:r>
              <a:t>• 四层联系人阶梯检索：</a:t>
            </a:r>
            <a:br/>
            <a:r>
              <a:t>  完全匹配 $\rightarrow$ 包含匹配 $\rightarrow$ 拼音首字母匹配 $\rightarrow$ 编辑距离匹配。置信度综合计分检索，保证呼叫无偏差。</a:t>
            </a:r>
            <a:br/>
            <a:r>
              <a:t>• 听觉自适应 TTS：反向播报语速默认下调至正常的 0.9 倍，语调舒缓贴心。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🎙️ 语音辅助模块工作流程</a:t>
            </a:r>
          </a:p>
        </p:txBody>
      </p:sp>
      <p:pic>
        <p:nvPicPr>
          <p:cNvPr id="7" name="Picture 6" descr="voi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0659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07. 系统界面呈现与视觉设计 (Interface)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🎨 Jetpack Compose 适老交互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Compose 声明式自适应：全系统基于严格 UI Tokens 色板和触摸热区边距开发，多分辨率无变形错位。</a:t>
            </a:r>
            <a:br/>
            <a:r>
              <a:t>• 响应式字号无感变大：</a:t>
            </a:r>
            <a:br/>
            <a:r>
              <a:t>  中/大/超大 3 档字号在 80 毫秒内重组渲染，决无控件重叠或文本溢出。</a:t>
            </a:r>
            <a:br/>
            <a:r>
              <a:t>• WCAG AAA 高对比度主题：一键切换纯黑底、白字、鲜橙亮边的高反差模式，显著改善老年弱视认读力。</a:t>
            </a:r>
            <a:br/>
            <a:r>
              <a:t>• 点击防连击过滤：</a:t>
            </a:r>
            <a:br/>
            <a:r>
              <a:t>  多重事件状态锁定，秒级内重复连击自动过滤合并，防范状态机崩溃。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📱 桌面主界面及高反差界面实拍</a:t>
            </a:r>
          </a:p>
        </p:txBody>
      </p:sp>
      <p:pic>
        <p:nvPicPr>
          <p:cNvPr id="7" name="Picture 6" descr="dem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11680"/>
            <a:ext cx="2011680" cy="4483295"/>
          </a:xfrm>
          <a:prstGeom prst="rect">
            <a:avLst/>
          </a:prstGeom>
        </p:spPr>
      </p:pic>
      <p:pic>
        <p:nvPicPr>
          <p:cNvPr id="8" name="Picture 7" descr="dem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011680"/>
            <a:ext cx="2011680" cy="44547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08. 兼容性测试与真机环境验证 (Testing)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02C57"/>
                </a:solidFill>
                <a:latin typeface="Microsoft YaHei"/>
              </a:defRPr>
            </a:pPr>
            <a:r>
              <a:t>📊 本系统在跨芯片平台、屏幕分辨率及不同系统版本（Android 11至16，以及 HarmonyOS NEXT）上展开了严苛验证。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789401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测试设备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关键系统参数与兼容表现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一加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骁龙8至尊版 / 12GB RAM / 1440×3168 QHD+ / Android 16 (ColorOS 16)</a:t>
                      </a:r>
                      <a:br/>
                      <a:r>
                        <a:t>表现：超高分辨率矢量图清晰自适应；Android 16 增强无障碍安全策略完美通过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荣耀 WinRT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骁龙8至尊版 / 16GB RAM / 1272×2800 1.5K / Android 15 (MagicOS 10.0)</a:t>
                      </a:r>
                      <a:br/>
                      <a:r>
                        <a:t>表现：MagicOS 后台自启动机制稳定保活，通知授权及前台常驻功能稳定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一加 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天玑8100-MAX / 12GB RAM / 1080×2412 FHD+ / Android 12 (ColorOS 12.1)</a:t>
                      </a:r>
                      <a:br/>
                      <a:r>
                        <a:t>表现：主流千元机主流配置分辨率显示端正，微信视频自愈快速成功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iQOO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高通骁龙888 / 12GB RAM / 1080×2376 FHD+ / Android 11 (OriginOS 1.0)</a:t>
                      </a:r>
                      <a:br/>
                      <a:r>
                        <a:t>表现：老旧基准环境无障碍自愈耗时4.8秒，各项前后台运行指标完美适配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荣耀 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高通骁龙778G Plus / 8GB RAM / 1080×2400 FHD+ / Android 12 (MagicUI 6.1)</a:t>
                      </a:r>
                      <a:br/>
                      <a:r>
                        <a:t>表现：中低配机型后台保活白名单一键跳转流畅，前台无障碍执行稳定可靠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华为 Pura 80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麒麟9020 / 12GB RAM / 1260×2844 1.5K / HarmonyOS 5.1 (HarmonyOS NEXT)</a:t>
                      </a:r>
                      <a:br/>
                      <a:r>
                        <a:t>表现：支持鸿蒙无障碍全新动态权限机制，通过兼容层在纯血鸿蒙上完美运转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09. 性能实测、资源开销与结论展望 (Result)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102C57"/>
                </a:solidFill>
                <a:latin typeface="Microsoft YaHei"/>
              </a:defRPr>
            </a:pPr>
            <a:r>
              <a:t>📈 8小时压力实测与总结展望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300">
                <a:solidFill>
                  <a:srgbClr val="1F2937"/>
                </a:solidFill>
                <a:latin typeface="SimSun"/>
              </a:defRPr>
            </a:pPr>
            <a:r>
              <a:t>• 强悍实测性能：</a:t>
            </a:r>
            <a:br/>
            <a:r>
              <a:t>  - 满帧渲染：列表滑动稳定在 60.1 fps 满帧流畅。</a:t>
            </a:r>
            <a:br/>
            <a:r>
              <a:t>  - 极低消耗：8小时常驻内存仅 95~115 MB；空闲 CPU 占用 &lt; 1%，密集操作短时达 8%~12% 快速回落；连续 8 小时整体耗电仅 3%~5%。</a:t>
            </a:r>
            <a:br/>
            <a:r>
              <a:t>  - 闪电响应：字号/主题切换在 80~90 毫秒内，冷启动 1.15 秒。</a:t>
            </a:r>
            <a:br/>
            <a:r>
              <a:t>• 毕业成果总结：宿主+总线+插件三层微内核架构；七阶段FSM微信一键直拨；WiFi断网自愈与0.9倍TTS防御体系。</a:t>
            </a:r>
            <a:br/>
            <a:r>
              <a:t>• 未来展望：集成端侧小型大模型，实现自然多轮情感陪伴；接入 Matter 智能家居，打通家用健康血压计插件扩展。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E48257"/>
                </a:solidFill>
                <a:latin typeface="Microsoft YaHei"/>
              </a:defRPr>
            </a:pPr>
            <a:r>
              <a:t>⏱️ 关键场景页面加载与切换耗时统计</a:t>
            </a:r>
          </a:p>
        </p:txBody>
      </p:sp>
      <p:pic>
        <p:nvPicPr>
          <p:cNvPr id="7" name="Picture 6" descr="fig4_load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谢谢各位评委老师！</a:t>
            </a:r>
          </a:p>
          <a:p>
            <a:pPr algn="ctr">
              <a:spcBef>
                <a:spcPts val="2500"/>
              </a:spcBef>
              <a:defRPr sz="2800">
                <a:solidFill>
                  <a:srgbClr val="E48257"/>
                </a:solidFill>
                <a:latin typeface="Microsoft YaHei"/>
              </a:defRPr>
            </a:pPr>
            <a:r>
              <a:t>敬请各位专家教授批评指正！</a:t>
            </a:r>
          </a:p>
          <a:p>
            <a:pPr algn="ctr">
              <a:spcBef>
                <a:spcPts val="4000"/>
              </a:spcBef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答辩人：[您的姓名]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