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6.svg" ContentType="image/svg+xml"/>
  <Override PartName="/ppt/media/image28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72" r:id="rId7"/>
    <p:sldId id="257" r:id="rId9"/>
    <p:sldId id="258" r:id="rId10"/>
    <p:sldId id="259" r:id="rId11"/>
    <p:sldId id="270" r:id="rId12"/>
    <p:sldId id="260" r:id="rId13"/>
    <p:sldId id="261" r:id="rId14"/>
    <p:sldId id="267" r:id="rId15"/>
    <p:sldId id="262" r:id="rId16"/>
    <p:sldId id="263" r:id="rId17"/>
    <p:sldId id="264" r:id="rId18"/>
    <p:sldId id="265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通信工程专业的周剑鑫，我的毕业设计题目是《面向老年群体的Android交互桌面设计与实现》。本次答辩将围绕项目的研究背景、系统设计、核心功能实现以及测试分析等方面展开。首先，请允许我介绍本课题的研究背景与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我国老龄化进程的加速，数字鸿沟问题日益凸显。老年人在使用智能手机时面临着视觉、认知、通话、网络和交互等五大痛点。例如，一次简单的微信视频通话，对他们来说可能需要多达7个步骤。因此，本研究旨在设计一款真正适老化的交互桌面，不仅具有重要的社会价值，帮助老年人融入数字生活，也具备工程和学术上的探索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国内外的适老化方案各有侧重。海外方案难以适应国内生态，而国内厂商的方案则未能深入到应用内部。学术研究虽有理论支撑，但工程实践不足。本课题正是要填补这一空白，通过技术手段，将复杂的应用内操作简化为一键直达，实现从系统层到应用层的深度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高内聚、低耦合的设计目标，我们采用了三层微内核架构。底层是宿主层，提供基础运行环境；中间是总线层，负责通信和管理；顶层是插件层，实现具体业务功能。这种架构使得系统具备功能解耦、故障隔离和弹性扩展的优势。我们选用Kotlin和Jetpack Compose等现代Android技术栈，确保了系统的先进性和对低端设备的友好性。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高内聚、低耦合的设计目标，我们采用了三层微内核架构。底层是宿主层，提供基础运行环境；中间是总线层，负责通信和管理；顶层是插件层，实现具体业务功能。这种架构使得系统具备功能解耦、故障隔离和弹性扩展的优势。我们选用Kotlin和Jetpack Compose等现代Android技术栈，确保了系统的先进性和对低端设备的友好性。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在界面设计上，我们充分考虑了老年人的视觉和认知特点。基于Jetpack Compose，我们构建了一个信息聚合的主屏，所有常用功能一目了然。用户可以根据需要随时切换字号大小和主题颜色，甚至开启高对比度模式，以获得最佳的视觉体验。整个界面遵循MVVM架构，保证了流畅和稳定。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课题最核心的创新点在于实现了微信一键直拨。我们通过构建一个七阶段状态机，模拟用户操作，将原本需要7步的复杂流程自动化。为了保证跨版本的稳定性和成功率，我们设计了双通道节点检索、焦点退避和心跳防死锁三大关键技术。实测结果表明，该功能在不同微信版本下的成功率高达99.1%，平均耗时仅5.4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核心的通话功能，我们还设计了WiFi网络守护和语音辅助功能。WiFi守护功能通过四层体系和三阶段自愈机制，能在网络断开时自动尝试恢复，成功率达到100%。语音辅助则通过优化的TTS引擎和智能的指令解析算法，让老年人可以通过语音方便地拨打电话，并且算法能容忍一定的发音偏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展示了系统的几个关键界面。从首次启动的引导页，到日常使用的简洁主屏，再到联系人管理和设置中心，整个设计都贯穿着简洁、易用的原则。大图标、高对比度和清晰的布局，旨在为老年人提供最直观的操作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系统的稳定性和性能，我们进行了全面的测试。性能测试结果显示，无论是启动速度、渲染帧率还是核心功能的成功率，都达到了设计目标。特别是微信直拨成功率和WiFi自愈成功率分别达到了99.1%和100%。兼容性测试覆盖了主流的硬件平台和Android版本，确保了系统的广泛适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本课题的主要创新点在于四个方面：首创的适老化微内核架构、穿透微信的一键直拨方案、完整的WiFi自愈闭环以及轻量级的端侧语音交互。这些创新共同构成了一个高效、稳定且真正适老化的解决方案。展望未来，我们计划集成端侧AI大模型、扩展健康监测功能，并构建开放的插件生态，让产品更智能、更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通信工程专业的周剑鑫，我的毕业设计题目是《面向老年群体的Android交互桌面设计与实现》。本次答辩将围绕项目的研究背景、系统设计、核心功能实现以及测试分析等方面展开。首先，请允许我介绍本课题的研究背景与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2.png"/><Relationship Id="rId16" Type="http://schemas.openxmlformats.org/officeDocument/2006/relationships/tags" Target="../tags/tag13.xml"/><Relationship Id="rId15" Type="http://schemas.openxmlformats.org/officeDocument/2006/relationships/image" Target="../media/image11.svg"/><Relationship Id="rId14" Type="http://schemas.openxmlformats.org/officeDocument/2006/relationships/image" Target="../media/image10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15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3.xml"/><Relationship Id="rId26" Type="http://schemas.openxmlformats.org/officeDocument/2006/relationships/image" Target="../media/image21.png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14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22.jpeg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0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image" Target="../media/image25.png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3.png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notesSlide" Target="../notesSlides/notesSlide11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571115" y="2535555"/>
            <a:ext cx="26746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答辩人：周剑鑫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32550" y="3604260"/>
            <a:ext cx="28022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时间：</a:t>
            </a:r>
            <a:r>
              <a:rPr lang="en-US" altLang="zh-CN"/>
              <a:t>2026</a:t>
            </a:r>
            <a:r>
              <a:rPr lang="zh-CN" altLang="en-US">
                <a:ea typeface="宋体" panose="02010600030101010101" pitchFamily="2" charset="-122"/>
              </a:rPr>
              <a:t>年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月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号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70480" y="31222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专业：通信工程</a:t>
            </a:r>
            <a:r>
              <a:rPr lang="en-US" altLang="zh-CN"/>
              <a:t>2209</a:t>
            </a:r>
            <a:r>
              <a:rPr lang="zh-CN" altLang="en-US">
                <a:ea typeface="宋体" panose="02010600030101010101" pitchFamily="2" charset="-122"/>
              </a:rPr>
              <a:t>班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63905"/>
            <a:ext cx="12192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面向老年群体的</a:t>
            </a:r>
            <a:r>
              <a:rPr lang="en-US" altLang="zh-CN" sz="32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Android</a:t>
            </a:r>
            <a:r>
              <a:rPr lang="zh-CN" altLang="en-US" sz="320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  <a:ea typeface="宋体" panose="02010600030101010101" pitchFamily="2" charset="-122"/>
              </a:rPr>
              <a:t>交互桌面设计与实现</a:t>
            </a:r>
            <a:endParaRPr lang="zh-CN" altLang="en-US" sz="320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9175" y="1398905"/>
            <a:ext cx="7736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2"/>
                </a:solidFill>
              </a:rPr>
              <a:t>Design and Implementation of Android Interactive Desktop for the Elderly</a:t>
            </a:r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0480" y="36042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指导老师：李娜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35090" y="25234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学号：</a:t>
            </a:r>
            <a:r>
              <a:rPr lang="en-US" altLang="zh-CN"/>
              <a:t>03221257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432550" y="31064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学院：通信与信息工程学院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01 研究背景与意义</a:t>
            </a:r>
            <a:endParaRPr lang="en-US" sz="3200" b="1" i="0" u="none" strike="noStrike">
              <a:solidFill>
                <a:srgbClr val="1F2937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8285" y="14478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48285" y="1397000"/>
            <a:ext cx="228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39750" y="1524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人口老龄化加剧</a:t>
            </a:r>
            <a:endParaRPr lang="en-US" sz="14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11785" y="1905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+mn-ea"/>
                <a:cs typeface="+mn-lt"/>
                <a:sym typeface="Noto Sans SC"/>
              </a:rPr>
              <a:t>2025年60岁+人口达</a:t>
            </a:r>
            <a:r>
              <a:rPr lang="en-US" sz="2000" b="1" i="0" u="none" strike="noStrike">
                <a:solidFill>
                  <a:srgbClr val="1E88E5"/>
                </a:solidFill>
                <a:latin typeface="+mn-lt"/>
                <a:ea typeface="+mn-ea"/>
                <a:cs typeface="+mn-lt"/>
                <a:sym typeface="Noto Sans SC"/>
              </a:rPr>
              <a:t>3.21亿</a:t>
            </a: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+mn-ea"/>
                <a:cs typeface="+mn-lt"/>
                <a:sym typeface="Noto Sans SC"/>
              </a:rPr>
              <a:t>，占比22.86%。我国正加速从轻度迈向中度老龄化社会，银发群体服务需求激增。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571750" y="14478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571750" y="1397000"/>
            <a:ext cx="228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698750" y="1524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数字鸿沟显著</a:t>
            </a:r>
            <a:endParaRPr lang="en-US" sz="14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698750" y="19050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老年网民占比仅</a:t>
            </a:r>
            <a:r>
              <a:rPr lang="en-US" sz="2000" b="1" i="0" u="none" strike="noStrike">
                <a:solidFill>
                  <a:srgbClr val="1E88E5"/>
                </a:solidFill>
                <a:latin typeface="+mn-lt"/>
                <a:ea typeface="Noto Sans SC"/>
                <a:cs typeface="+mn-lt"/>
                <a:sym typeface="Noto Sans SC"/>
              </a:rPr>
              <a:t>14.3%</a:t>
            </a: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。大量老年人因操作复杂被排斥在数字生活之外，成为移动互联网时代的“信息边缘人”。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14478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53000" y="1397000"/>
            <a:ext cx="228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41900" y="1524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核心交互障碍</a:t>
            </a:r>
            <a:endParaRPr lang="en-US" sz="14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41900" y="19050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+mn-ea"/>
                <a:cs typeface="+mn-lt"/>
                <a:sym typeface="Noto Sans SC"/>
              </a:rPr>
              <a:t>高频刚需如微信视频通话，需经历</a:t>
            </a:r>
            <a:r>
              <a:rPr lang="en-US" sz="2000" b="1" i="0" u="none" strike="noStrike">
                <a:solidFill>
                  <a:srgbClr val="EF4444"/>
                </a:solidFill>
                <a:latin typeface="+mn-lt"/>
                <a:ea typeface="+mn-ea"/>
                <a:cs typeface="+mn-lt"/>
                <a:sym typeface="Noto Sans SC"/>
              </a:rPr>
              <a:t>7步+</a:t>
            </a: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+mn-ea"/>
                <a:cs typeface="+mn-lt"/>
                <a:sym typeface="Noto Sans SC"/>
              </a:rPr>
              <a:t>复杂操作。现有产品设计严重忽视了老年用户的生理与认知特征。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1285" y="3175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48285" y="32512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视觉辨识难</a:t>
            </a:r>
            <a:endParaRPr lang="en-US" sz="13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48285" y="3581400"/>
            <a:ext cx="133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界面字号过小</a:t>
            </a:r>
            <a:b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图标信息密度过高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689100" y="3175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816100" y="32512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认知负荷大</a:t>
            </a:r>
            <a:endParaRPr lang="en-US" sz="13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816100" y="3581400"/>
            <a:ext cx="133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多级菜单嵌套</a:t>
            </a:r>
            <a:b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弹窗干扰逻辑断裂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238500" y="3175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EF4444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238500" y="32512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+mn-lt"/>
                <a:ea typeface="Noto Sans SC"/>
                <a:cs typeface="Noto Sans SC"/>
                <a:sym typeface="Noto Sans SC"/>
              </a:rPr>
              <a:t>流程极冗长</a:t>
            </a:r>
            <a:endParaRPr lang="en-US" sz="1300" b="1" i="0" u="none" strike="noStrike">
              <a:solidFill>
                <a:srgbClr val="B91C1C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238500" y="3581400"/>
            <a:ext cx="133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+mn-ea"/>
                <a:cs typeface="+mn-lt"/>
                <a:sym typeface="Noto Sans SC"/>
              </a:rPr>
              <a:t>发起动作繁琐</a:t>
            </a:r>
            <a:b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+mn-ea"/>
                <a:cs typeface="+mn-lt"/>
                <a:sym typeface="Noto Sans SC"/>
              </a:rPr>
              <a:t>记忆执行门槛极高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730750" y="3175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794250" y="32512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网络易断连</a:t>
            </a:r>
            <a:endParaRPr lang="en-US" sz="13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857750" y="3581400"/>
            <a:ext cx="133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误触后难恢复</a:t>
            </a:r>
            <a:b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缺乏自动守护机制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03010" y="3175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66510" y="32512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触控易误操</a:t>
            </a:r>
            <a:endParaRPr lang="en-US" sz="13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366510" y="3581400"/>
            <a:ext cx="133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点击区域过小</a:t>
            </a:r>
            <a:b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74151">
                    <a:alpha val="90196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意外操作频繁发生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62000" y="4572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62000" y="4572000"/>
            <a:ext cx="24765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63600" y="4699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社会价值：跨越数字鸿沟</a:t>
            </a:r>
            <a:endParaRPr lang="en-US" sz="14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63600" y="51054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4902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让智能技术更有温度，帮助老年群体平等享受数字红利。通过降低使用门槛，有效缓解“数字孤独”，提升老年人在信息时代的生活自主性与幸福感。</a:t>
            </a:r>
            <a:endParaRPr lang="en-US" sz="1100" b="0" i="0" u="none" strike="noStrike">
              <a:solidFill>
                <a:srgbClr val="374151">
                  <a:alpha val="94902"/>
                </a:srgbClr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3340100" y="4572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3340100" y="4572000"/>
            <a:ext cx="24765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3441700" y="4699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工程价值：范式创新</a:t>
            </a:r>
            <a:endParaRPr lang="en-US" sz="14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3441700" y="51054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4902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探索轻量化微内核架构与无障碍自动化的工程实现。解决传统应用的“重交互”问题，为适老化软件系统的开发提供一套可落地、可复用的技术解决方案。</a:t>
            </a:r>
            <a:endParaRPr lang="en-US" sz="1100" b="0" i="0" u="none" strike="noStrike">
              <a:solidFill>
                <a:srgbClr val="374151">
                  <a:alpha val="94902"/>
                </a:srgbClr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5918200" y="4572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5918200" y="4572000"/>
            <a:ext cx="24765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019800" y="4699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学术价值：理论突破</a:t>
            </a:r>
            <a:endParaRPr lang="en-US" sz="14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019800" y="5105400"/>
            <a:ext cx="228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94902"/>
                  </a:srgbClr>
                </a:solidFill>
                <a:latin typeface="+mn-lt"/>
                <a:ea typeface="Noto Sans SC"/>
                <a:cs typeface="Noto Sans SC"/>
                <a:sym typeface="Noto Sans SC"/>
              </a:rPr>
              <a:t>提出七阶段状态机模型、双通道检索机制与分层网络守护算法。丰富了人机交互领域针对特殊群体的适配理论，为后续适老化界面设计提供新的研究视角。</a:t>
            </a:r>
            <a:endParaRPr lang="en-US" sz="1100" b="0" i="0" u="none" strike="noStrike">
              <a:solidFill>
                <a:srgbClr val="374151">
                  <a:alpha val="94902"/>
                </a:srgbClr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3" name="Connector 43"/>
          <p:cNvCxnSpPr/>
          <p:nvPr/>
        </p:nvCxnSpPr>
        <p:spPr>
          <a:xfrm rot="5391405">
            <a:off x="6032500" y="3930658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8699500" y="4699000"/>
            <a:ext cx="3365500" cy="1778000"/>
          </a:xfrm>
          <a:prstGeom prst="roundRect">
            <a:avLst>
              <a:gd name="adj" fmla="val 0"/>
            </a:avLst>
          </a:prstGeom>
          <a:solidFill>
            <a:srgbClr val="1E88E5">
              <a:alpha val="9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8699500" y="469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8826500" y="48006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+mn-lt"/>
                <a:ea typeface="Noto Sans SC"/>
                <a:cs typeface="Noto Sans SC"/>
                <a:sym typeface="Noto Sans SC"/>
              </a:rPr>
              <a:t>关键研究洞察</a:t>
            </a:r>
            <a:endParaRPr lang="en-US" sz="1400" b="1" i="0" u="none" strike="noStrike">
              <a:solidFill>
                <a:srgbClr val="1E40AF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8826500" y="52070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2157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老年用户的数字痛点呈现“全流程、多维度”特征。其中，</a:t>
            </a:r>
            <a:r>
              <a:rPr lang="en-US" sz="1200" b="1" i="0" u="none" strike="noStrike">
                <a:solidFill>
                  <a:srgbClr val="1F2937">
                    <a:alpha val="92157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通话流程复杂度</a:t>
            </a:r>
            <a:r>
              <a:rPr lang="en-US" sz="1200" b="0" i="0" u="none" strike="noStrike">
                <a:solidFill>
                  <a:srgbClr val="1F2937">
                    <a:alpha val="92157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1F2937">
                    <a:alpha val="92157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视觉辨识难度</a:t>
            </a:r>
            <a:r>
              <a:rPr lang="en-US" sz="1200" b="0" i="0" u="none" strike="noStrike">
                <a:solidFill>
                  <a:srgbClr val="1F2937">
                    <a:alpha val="92157"/>
                  </a:srgbClr>
                </a:solidFill>
                <a:latin typeface="+mn-lt"/>
                <a:ea typeface="Noto Sans SC"/>
                <a:cs typeface="+mn-lt"/>
                <a:sym typeface="Noto Sans SC"/>
              </a:rPr>
              <a:t>最为突出（评分达10分与9分）。这一数据直接指明了本研究的核心切入点：需从交互简化与主动服务两方面进行技术与产品重构。</a:t>
            </a:r>
            <a:endParaRPr lang="en-US" sz="1100">
              <a:latin typeface="+mn-lt"/>
              <a:cs typeface="+mn-lt"/>
            </a:endParaRPr>
          </a:p>
        </p:txBody>
      </p:sp>
      <p:pic>
        <p:nvPicPr>
          <p:cNvPr id="50" name="图片 49" descr="fig1_1_aging_population_tr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40" y="829310"/>
            <a:ext cx="4594860" cy="344995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7700010" y="4292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60</a:t>
            </a:r>
            <a:r>
              <a:rPr lang="zh-CN" altLang="en-US">
                <a:ea typeface="宋体" panose="02010600030101010101" pitchFamily="2" charset="-122"/>
              </a:rPr>
              <a:t>岁以上人口数量趋势图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6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02 国内外研究现状</a:t>
            </a:r>
            <a:endParaRPr lang="en-US" sz="3200" b="1" i="0" u="none" strike="noStrike">
              <a:solidFill>
                <a:srgbClr val="1F2937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37" name="AutoShape 4"/>
          <p:cNvSpPr/>
          <p:nvPr/>
        </p:nvSpPr>
        <p:spPr>
          <a:xfrm>
            <a:off x="7620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8" name="AutoShape 5"/>
          <p:cNvSpPr/>
          <p:nvPr/>
        </p:nvSpPr>
        <p:spPr>
          <a:xfrm>
            <a:off x="7620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952500" y="1549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海外方案：生态适配不足</a:t>
            </a:r>
            <a:endParaRPr lang="en-US" sz="16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7"/>
          <p:cNvSpPr/>
          <p:nvPr/>
        </p:nvSpPr>
        <p:spPr>
          <a:xfrm>
            <a:off x="952500" y="20574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以 Big Launcher、Doro 等为代表的海外简化桌面方案，核心在于界面元素的极简呈现。但这类方案主要基于海外应用生态设计，无法深度适配微信、支付宝等国内超级应用的复杂功能逻辑，难以满足中国老年用户的高频核心需求。</a:t>
            </a:r>
            <a:endParaRPr lang="en-US" sz="1200" b="0" i="0" u="none" strike="noStrike">
              <a:solidFill>
                <a:srgbClr val="374151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41" name="AutoShape 8"/>
          <p:cNvSpPr/>
          <p:nvPr/>
        </p:nvSpPr>
        <p:spPr>
          <a:xfrm>
            <a:off x="45085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2" name="AutoShape 9"/>
          <p:cNvSpPr/>
          <p:nvPr/>
        </p:nvSpPr>
        <p:spPr>
          <a:xfrm>
            <a:off x="45085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3" name="AutoShape 10"/>
          <p:cNvSpPr/>
          <p:nvPr/>
        </p:nvSpPr>
        <p:spPr>
          <a:xfrm>
            <a:off x="4699000" y="1549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国内厂商：停留在系统表层</a:t>
            </a:r>
            <a:endParaRPr lang="en-US" sz="16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4" name="AutoShape 11"/>
          <p:cNvSpPr/>
          <p:nvPr/>
        </p:nvSpPr>
        <p:spPr>
          <a:xfrm>
            <a:off x="4699000" y="20574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华为、小米等主流厂商推出的“简易模式”，重点优化了系统桌面、字体大小与色彩对比度。然而其适老化能力止步于系统层，存在“系统层优化充分、应用层穿透不足”的痛点，无法解决第三方应用内部复杂的操作流程问题。</a:t>
            </a:r>
            <a:endParaRPr lang="en-US" sz="1200" b="0" i="0" u="none" strike="noStrike">
              <a:solidFill>
                <a:srgbClr val="374151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45" name="AutoShape 12"/>
          <p:cNvSpPr/>
          <p:nvPr/>
        </p:nvSpPr>
        <p:spPr>
          <a:xfrm>
            <a:off x="8255000" y="1397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6" name="AutoShape 13"/>
          <p:cNvSpPr/>
          <p:nvPr/>
        </p:nvSpPr>
        <p:spPr>
          <a:xfrm>
            <a:off x="82550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47" name="AutoShape 14"/>
          <p:cNvSpPr/>
          <p:nvPr/>
        </p:nvSpPr>
        <p:spPr>
          <a:xfrm>
            <a:off x="8445500" y="1549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学术领域：理论与工程脱节</a:t>
            </a:r>
            <a:endParaRPr lang="en-US" sz="16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8" name="AutoShape 15"/>
          <p:cNvSpPr/>
          <p:nvPr/>
        </p:nvSpPr>
        <p:spPr>
          <a:xfrm>
            <a:off x="8445500" y="20574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+mn-lt"/>
                <a:ea typeface="Noto Sans SC"/>
                <a:cs typeface="Noto Sans SC"/>
                <a:sym typeface="Noto Sans SC"/>
              </a:rPr>
              <a:t>学术界在人因工程、视觉认知与老年用户行为模型等方面已积累了扎实的理论基础。但现有成果多聚焦于交互设计原则，缺乏能够实现跨应用穿透、自动化任务执行的工程化方法论，难以直接转化为可落地的实用工具。</a:t>
            </a:r>
            <a:endParaRPr lang="en-US" sz="1200" b="0" i="0" u="none" strike="noStrike">
              <a:solidFill>
                <a:srgbClr val="374151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49" name="AutoShape 16"/>
          <p:cNvSpPr/>
          <p:nvPr/>
        </p:nvSpPr>
        <p:spPr>
          <a:xfrm>
            <a:off x="762000" y="3683000"/>
            <a:ext cx="5842000" cy="1714500"/>
          </a:xfrm>
          <a:prstGeom prst="roundRect">
            <a:avLst>
              <a:gd name="adj" fmla="val 0"/>
            </a:avLst>
          </a:prstGeom>
          <a:solidFill>
            <a:srgbClr val="1E88E5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50" name="AutoShape 17"/>
          <p:cNvSpPr/>
          <p:nvPr/>
        </p:nvSpPr>
        <p:spPr>
          <a:xfrm>
            <a:off x="952500" y="38354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+mn-lt"/>
                <a:ea typeface="Noto Sans SC"/>
                <a:cs typeface="+mn-lt"/>
                <a:sym typeface="Noto Sans SC"/>
              </a:rPr>
              <a:t>课题定位：填补“操作门槛”与“稳定性”的技术空白</a:t>
            </a:r>
            <a:endParaRPr lang="en-US" sz="1600" b="1" i="0" u="none" strike="noStrike">
              <a:solidFill>
                <a:srgbClr val="FFFFFF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51" name="AutoShape 18"/>
          <p:cNvSpPr/>
          <p:nvPr/>
        </p:nvSpPr>
        <p:spPr>
          <a:xfrm>
            <a:off x="952500" y="43180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F5FF"/>
                </a:solidFill>
                <a:latin typeface="+mn-lt"/>
                <a:ea typeface="Noto Sans SC"/>
                <a:cs typeface="+mn-lt"/>
                <a:sym typeface="Noto Sans SC"/>
              </a:rPr>
              <a:t>针对现有方案在应用层深度与工程落地能力上的双重缺失，本研究致力于解决“第三方应用内操作门槛高”与“端侧自动化跨版本稳定性差”之间的核心矛盾。通过构建轻量级智能代理架构，实现从“被动适配”到“主动执行”的技术范式升级。</a:t>
            </a:r>
            <a:endParaRPr lang="en-US" sz="1300" b="0" i="0" u="none" strike="noStrike">
              <a:solidFill>
                <a:srgbClr val="EBF5FF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cxnSp>
        <p:nvCxnSpPr>
          <p:cNvPr id="52" name="Connector 19"/>
          <p:cNvCxnSpPr/>
          <p:nvPr/>
        </p:nvCxnSpPr>
        <p:spPr>
          <a:xfrm rot="5374535">
            <a:off x="6000750" y="4533924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20"/>
          <p:cNvSpPr/>
          <p:nvPr/>
        </p:nvSpPr>
        <p:spPr>
          <a:xfrm>
            <a:off x="7048500" y="3683000"/>
            <a:ext cx="476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BED2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7175500" y="3810000"/>
            <a:ext cx="14986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pic>
        <p:nvPicPr>
          <p:cNvPr id="55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400" y="3911600"/>
            <a:ext cx="279400" cy="279400"/>
          </a:xfrm>
          <a:prstGeom prst="rect">
            <a:avLst/>
          </a:prstGeom>
        </p:spPr>
      </p:pic>
      <p:sp>
        <p:nvSpPr>
          <p:cNvPr id="56" name="AutoShape 23"/>
          <p:cNvSpPr/>
          <p:nvPr/>
        </p:nvSpPr>
        <p:spPr>
          <a:xfrm>
            <a:off x="7594600" y="39116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+mn-lt"/>
                <a:ea typeface="Noto Sans SC"/>
                <a:cs typeface="Noto Sans SC"/>
                <a:sym typeface="Noto Sans SC"/>
              </a:rPr>
              <a:t>传统方案</a:t>
            </a:r>
            <a:endParaRPr lang="en-US" sz="1300" b="1" i="0" u="none" strike="noStrike">
              <a:solidFill>
                <a:srgbClr val="33415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57" name="AutoShape 24"/>
          <p:cNvSpPr/>
          <p:nvPr/>
        </p:nvSpPr>
        <p:spPr>
          <a:xfrm>
            <a:off x="7175500" y="43180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+mn-lt"/>
                <a:ea typeface="Noto Sans SC"/>
                <a:cs typeface="+mn-lt"/>
                <a:sym typeface="Noto Sans SC"/>
              </a:rPr>
              <a:t>7步繁琐操作</a:t>
            </a:r>
            <a:endParaRPr lang="en-US" sz="1400" b="1" i="0" u="none" strike="noStrike">
              <a:solidFill>
                <a:srgbClr val="EA580C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58" name="AutoShape 25"/>
          <p:cNvSpPr/>
          <p:nvPr/>
        </p:nvSpPr>
        <p:spPr>
          <a:xfrm>
            <a:off x="7213600" y="4699000"/>
            <a:ext cx="1435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+mn-lt"/>
                <a:ea typeface="Noto Sans SC"/>
                <a:cs typeface="+mn-lt"/>
                <a:sym typeface="Noto Sans SC"/>
              </a:rPr>
              <a:t>需逐层点击</a:t>
            </a:r>
            <a:br>
              <a:rPr lang="en-US" sz="1100" b="0" i="0" u="none" strike="noStrike">
                <a:solidFill>
                  <a:srgbClr val="475569"/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475569"/>
                </a:solidFill>
                <a:latin typeface="+mn-lt"/>
                <a:ea typeface="Noto Sans SC"/>
                <a:cs typeface="+mn-lt"/>
                <a:sym typeface="Noto Sans SC"/>
              </a:rPr>
              <a:t>学习成本高昂</a:t>
            </a:r>
            <a:endParaRPr lang="en-US" sz="1100">
              <a:latin typeface="+mn-lt"/>
              <a:cs typeface="+mn-lt"/>
            </a:endParaRPr>
          </a:p>
        </p:txBody>
      </p:sp>
      <p:pic>
        <p:nvPicPr>
          <p:cNvPr id="59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400" y="4216400"/>
            <a:ext cx="355600" cy="355600"/>
          </a:xfrm>
          <a:prstGeom prst="rect">
            <a:avLst/>
          </a:prstGeom>
        </p:spPr>
      </p:pic>
      <p:sp>
        <p:nvSpPr>
          <p:cNvPr id="60" name="AutoShape 27"/>
          <p:cNvSpPr/>
          <p:nvPr/>
        </p:nvSpPr>
        <p:spPr>
          <a:xfrm>
            <a:off x="9271000" y="3810000"/>
            <a:ext cx="2413000" cy="1460500"/>
          </a:xfrm>
          <a:prstGeom prst="roundRect">
            <a:avLst>
              <a:gd name="adj" fmla="val 0"/>
            </a:avLst>
          </a:prstGeom>
          <a:solidFill>
            <a:srgbClr val="E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pic>
        <p:nvPicPr>
          <p:cNvPr id="6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2600" y="3911600"/>
            <a:ext cx="304800" cy="304800"/>
          </a:xfrm>
          <a:prstGeom prst="rect">
            <a:avLst/>
          </a:prstGeom>
        </p:spPr>
      </p:pic>
      <p:sp>
        <p:nvSpPr>
          <p:cNvPr id="62" name="AutoShape 29"/>
          <p:cNvSpPr/>
          <p:nvPr/>
        </p:nvSpPr>
        <p:spPr>
          <a:xfrm>
            <a:off x="9753600" y="39116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+mn-lt"/>
                <a:ea typeface="Noto Sans SC"/>
                <a:cs typeface="Noto Sans SC"/>
                <a:sym typeface="Noto Sans SC"/>
              </a:rPr>
              <a:t>本课题系统</a:t>
            </a:r>
            <a:endParaRPr lang="en-US" sz="1300" b="1" i="0" u="none" strike="noStrike">
              <a:solidFill>
                <a:srgbClr val="1E3A8A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63" name="AutoShape 30"/>
          <p:cNvSpPr/>
          <p:nvPr/>
        </p:nvSpPr>
        <p:spPr>
          <a:xfrm>
            <a:off x="9271000" y="4318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88E5"/>
                </a:solidFill>
                <a:latin typeface="+mn-lt"/>
                <a:ea typeface="Noto Sans SC"/>
                <a:cs typeface="+mn-lt"/>
                <a:sym typeface="Noto Sans SC"/>
              </a:rPr>
              <a:t>1键智能直达</a:t>
            </a:r>
            <a:endParaRPr lang="en-US" sz="1400" b="1" i="0" u="none" strike="noStrike">
              <a:solidFill>
                <a:srgbClr val="1E88E5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64" name="AutoShape 31"/>
          <p:cNvSpPr/>
          <p:nvPr/>
        </p:nvSpPr>
        <p:spPr>
          <a:xfrm>
            <a:off x="9309100" y="46990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34155"/>
                </a:solidFill>
                <a:latin typeface="+mn-lt"/>
                <a:ea typeface="Noto Sans SC"/>
                <a:cs typeface="+mn-lt"/>
                <a:sym typeface="Noto Sans SC"/>
              </a:rPr>
              <a:t>端侧自动执行</a:t>
            </a:r>
            <a:br>
              <a:rPr lang="en-US" sz="1100" b="0" i="0" u="none" strike="noStrike">
                <a:solidFill>
                  <a:srgbClr val="334155"/>
                </a:solidFill>
                <a:latin typeface="+mn-lt"/>
                <a:ea typeface="Noto Sans SC"/>
                <a:cs typeface="+mn-lt"/>
                <a:sym typeface="Noto Sans SC"/>
              </a:rPr>
            </a:br>
            <a:r>
              <a:rPr lang="en-US" sz="1100" b="0" i="0" u="none" strike="noStrike">
                <a:solidFill>
                  <a:srgbClr val="334155"/>
                </a:solidFill>
                <a:latin typeface="+mn-lt"/>
                <a:ea typeface="Noto Sans SC"/>
                <a:cs typeface="+mn-lt"/>
                <a:sym typeface="Noto Sans SC"/>
              </a:rPr>
              <a:t>跨越应用操作壁垒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65" name="AutoShape 32"/>
          <p:cNvSpPr/>
          <p:nvPr/>
        </p:nvSpPr>
        <p:spPr>
          <a:xfrm>
            <a:off x="762000" y="5524500"/>
            <a:ext cx="110490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66" name="AutoShape 33"/>
          <p:cNvSpPr/>
          <p:nvPr/>
        </p:nvSpPr>
        <p:spPr>
          <a:xfrm>
            <a:off x="762000" y="5524500"/>
            <a:ext cx="50800" cy="1079500"/>
          </a:xfrm>
          <a:prstGeom prst="roundRect">
            <a:avLst>
              <a:gd name="adj" fmla="val 0"/>
            </a:avLst>
          </a:prstGeom>
          <a:solidFill>
            <a:srgbClr val="1E88E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67" name="AutoShape 34"/>
          <p:cNvSpPr/>
          <p:nvPr/>
        </p:nvSpPr>
        <p:spPr>
          <a:xfrm>
            <a:off x="952500" y="56134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本研究突破了传统适老化改造仅聚焦于“界面简化”的边界，创新性地提出从被动的视觉适配转向主动的任务执行。通过端侧轻量化智能代理技术，有效弥合了技术供给与老年用户实际操作能力之间的数字鸿沟，为解决智能终端“用不了、不好用”的问题提供了一种新的工程化路径。</a:t>
            </a:r>
            <a:endParaRPr lang="en-US" sz="1300" b="0" i="0" u="none" strike="noStrike">
              <a:solidFill>
                <a:srgbClr val="1F2937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969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00025" y="382905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03-1 系统总体架构</a:t>
            </a:r>
            <a:endParaRPr 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037070" y="216535"/>
            <a:ext cx="3683000" cy="16256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037070" y="175895"/>
            <a:ext cx="3683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7284085" y="294005"/>
            <a:ext cx="3378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顶层 · 插件层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189470" y="673735"/>
            <a:ext cx="3378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承载联系人、应用服务、天气等具体业务插件。采用完全业务解耦模式，各插件拥有独立生命周期，支持热插拔与按需加载，实现业务功能的灵活组合与动态更新。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037070" y="1974850"/>
            <a:ext cx="3683000" cy="16256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037070" y="1936115"/>
            <a:ext cx="3683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189470" y="2068195"/>
            <a:ext cx="3378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中层 · 总线层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189470" y="2397125"/>
            <a:ext cx="3378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系统的核心通信中枢。集成插件管理器、消息总线、统一配置存储与事件分发机制，屏蔽底层差异，实现跨插件的高效数据通信与状态同步，是连接插件与宿主的关键桥梁。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037070" y="3788410"/>
            <a:ext cx="3683000" cy="16256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037070" y="3733165"/>
            <a:ext cx="3683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189470" y="3850005"/>
            <a:ext cx="3378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底层 · 宿主层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7189470" y="4206240"/>
            <a:ext cx="3378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系统运行的最小化核心底座。包含应用全局入口、主界面容器及Hilt依赖注入容器，仅提供必要的基础设施，保持内核极轻量化，为上层插件提供稳定的运行环境与基础服务。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1185">
            <a:off x="22225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1573530" y="5430520"/>
            <a:ext cx="6921500" cy="1397000"/>
          </a:xfrm>
          <a:prstGeom prst="roundRect">
            <a:avLst>
              <a:gd name="adj" fmla="val 0"/>
            </a:avLst>
          </a:prstGeom>
          <a:solidFill>
            <a:srgbClr val="EBF5FF">
              <a:alpha val="92000"/>
            </a:srgbClr>
          </a:solidFill>
          <a:ln w="12700" cap="flat" cmpd="sng">
            <a:solidFill>
              <a:srgbClr val="1E88E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73530" y="5407660"/>
            <a:ext cx="330200" cy="3302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1986280" y="5431155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广泛的系统兼容性适配</a:t>
            </a:r>
            <a:endParaRPr lang="en-US" sz="14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1700530" y="5914390"/>
            <a:ext cx="666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系统最低兼容 Android 7.0 (API 24)，开发目标版本为 Android 14 (API 34)。经过严格的真机实测，已完美适配 Android 14 至 16 等主流新版本特性，确保在超过 98% 的存量移动设备上稳定运行，兼顾技术先进性与用户覆盖面。</a:t>
            </a:r>
            <a:endParaRPr lang="en-US" sz="1200" b="0" i="0" u="none" strike="noStrike">
              <a:solidFill>
                <a:srgbClr val="374151">
                  <a:alpha val="90196"/>
                </a:srgbClr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pic>
        <p:nvPicPr>
          <p:cNvPr id="40" name="图片 39" descr="architectur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42290" y="1017905"/>
            <a:ext cx="5916930" cy="4389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24790" y="597535"/>
            <a:ext cx="40506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03-2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技术栈分层架构</a:t>
            </a:r>
            <a:endParaRPr lang="zh-CN" alt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1185">
            <a:off x="22225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224790" y="1261745"/>
            <a:ext cx="6921500" cy="1333500"/>
          </a:xfrm>
          <a:prstGeom prst="roundRect">
            <a:avLst>
              <a:gd name="adj" fmla="val 0"/>
            </a:avLst>
          </a:prstGeom>
          <a:solidFill>
            <a:srgbClr val="1E88E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09880" y="1397000"/>
            <a:ext cx="654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现代化 Android 核心技术栈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09880" y="1828800"/>
            <a:ext cx="654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4902"/>
                  </a:srgbClr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基于 Kotlin 语言与 Jetpack Compose 构建响应式UI；结合 Room 与 DataStore 实现分层数据持久化；利用 Dagger-Hilt 实现依赖解耦，Retrofit 处理高效网络通信。全栈技术选型兼顾了开发效率、运行性能与未来的可维护性。</a:t>
            </a:r>
            <a:endParaRPr lang="en-US" sz="1300" b="0" i="0" u="none" strike="noStrike">
              <a:solidFill>
                <a:srgbClr val="1F2937">
                  <a:alpha val="94902"/>
                </a:srgbClr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0" name="AutoShape 20"/>
          <p:cNvSpPr/>
          <p:nvPr>
            <p:custDataLst>
              <p:tags r:id="rId2"/>
            </p:custDataLst>
          </p:nvPr>
        </p:nvSpPr>
        <p:spPr>
          <a:xfrm>
            <a:off x="8079105" y="139700"/>
            <a:ext cx="165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E88E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0545" y="389255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6"/>
            </p:custDataLst>
          </p:nvPr>
        </p:nvSpPr>
        <p:spPr>
          <a:xfrm>
            <a:off x="8526780" y="318135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功能解耦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>
            <p:custDataLst>
              <p:tags r:id="rId7"/>
            </p:custDataLst>
          </p:nvPr>
        </p:nvSpPr>
        <p:spPr>
          <a:xfrm>
            <a:off x="8170545" y="798195"/>
            <a:ext cx="1447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业务模块独立封装，开发与部署互不依赖，大幅降低系统的整体耦合度，提升迭代效率。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>
            <p:custDataLst>
              <p:tags r:id="rId8"/>
            </p:custDataLst>
          </p:nvPr>
        </p:nvSpPr>
        <p:spPr>
          <a:xfrm>
            <a:off x="10109200" y="165100"/>
            <a:ext cx="165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E88E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695" y="318135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12"/>
            </p:custDataLst>
          </p:nvPr>
        </p:nvSpPr>
        <p:spPr>
          <a:xfrm>
            <a:off x="10539095" y="292735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故障隔离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>
            <p:custDataLst>
              <p:tags r:id="rId13"/>
            </p:custDataLst>
          </p:nvPr>
        </p:nvSpPr>
        <p:spPr>
          <a:xfrm>
            <a:off x="10234295" y="798195"/>
            <a:ext cx="1447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插件级沙箱运行机制，单个组件崩溃不影响主进程，保障核心业务流程的高可用性与稳定性。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>
            <p:custDataLst>
              <p:tags r:id="rId14"/>
            </p:custDataLst>
          </p:nvPr>
        </p:nvSpPr>
        <p:spPr>
          <a:xfrm>
            <a:off x="10109200" y="2453005"/>
            <a:ext cx="165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E88E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09200" y="2593975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18"/>
            </p:custDataLst>
          </p:nvPr>
        </p:nvSpPr>
        <p:spPr>
          <a:xfrm>
            <a:off x="10448925" y="258445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弹性扩展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>
            <p:custDataLst>
              <p:tags r:id="rId19"/>
            </p:custDataLst>
          </p:nvPr>
        </p:nvSpPr>
        <p:spPr>
          <a:xfrm>
            <a:off x="10238105" y="3015615"/>
            <a:ext cx="1447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标准化接口定义，新功能可作为独立插件快速接入，无需重构系统内核，灵活适配业务增长。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/>
          <p:nvPr>
            <p:custDataLst>
              <p:tags r:id="rId20"/>
            </p:custDataLst>
          </p:nvPr>
        </p:nvSpPr>
        <p:spPr>
          <a:xfrm>
            <a:off x="10109200" y="4629150"/>
            <a:ext cx="165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E88E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259695" y="4740275"/>
            <a:ext cx="279400" cy="279400"/>
          </a:xfrm>
          <a:prstGeom prst="rect">
            <a:avLst/>
          </a:prstGeom>
        </p:spPr>
      </p:pic>
      <p:sp>
        <p:nvSpPr>
          <p:cNvPr id="34" name="AutoShape 34"/>
          <p:cNvSpPr/>
          <p:nvPr>
            <p:custDataLst>
              <p:tags r:id="rId24"/>
            </p:custDataLst>
          </p:nvPr>
        </p:nvSpPr>
        <p:spPr>
          <a:xfrm>
            <a:off x="10542905" y="474091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轻量高效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/>
          <p:nvPr>
            <p:custDataLst>
              <p:tags r:id="rId25"/>
            </p:custDataLst>
          </p:nvPr>
        </p:nvSpPr>
        <p:spPr>
          <a:xfrm>
            <a:off x="10238105" y="5143500"/>
            <a:ext cx="14478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极致的内存与性能优化，在中低端Android设备上依然保持低功耗与流畅体验，覆盖广泛用户群体。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pic>
        <p:nvPicPr>
          <p:cNvPr id="43" name="图片 42" descr="tech_stack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4790" y="2462530"/>
            <a:ext cx="9444990" cy="4395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Noto Sans SC"/>
              </a:rPr>
              <a:t>04 核心功能一：适老化界面设计</a:t>
            </a:r>
            <a:endParaRPr 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22225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863600" y="16764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Noto Sans SC"/>
              </a:rPr>
              <a:t>声明式UI架构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863600" y="21844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Noto Sans SC"/>
              </a:rPr>
              <a:t>基于 Jetpack Compose 构建，以响应式数据驱动界面更新。摒弃传统繁琐的视图操作，让界面开发更高效，状态管理更清晰。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111500" y="1524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111500" y="1524000"/>
            <a:ext cx="22225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213100" y="16764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+mn-ea"/>
                <a:cs typeface="Noto Sans SC"/>
                <a:sym typeface="Noto Sans SC"/>
              </a:rPr>
              <a:t>主屏信息聚合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+mn-ea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213100" y="21844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将时钟、天气、常用联系人和高频应用卡片化呈现。关键信息一目了然，减少老年人查找信息的步骤，降低认知与操作门槛。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5461000" y="1524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5461000" y="1524000"/>
            <a:ext cx="22225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5562600" y="16764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灵活字号适配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5562600" y="21844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预设小、中、大三档全局字号，覆盖15种核心字体角色。用户可根据视力情况实时切换，生效过程无需重启应用，体验无缝流畅。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762000" y="3810000"/>
            <a:ext cx="33274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762000" y="3810000"/>
            <a:ext cx="3327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863600" y="39624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人文关怀色彩主题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863600" y="44704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提供“经典蓝”与“暖心橙”双主题，兼顾专业感与亲和力。同时深度支持系统高对比度模式，针对视觉障碍用户优化，让信息在各种光线环境下都清晰易读，传递有温度的科技体验。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4254500" y="3810000"/>
            <a:ext cx="33274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4254500" y="3810000"/>
            <a:ext cx="3327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4356100" y="3962400"/>
            <a:ext cx="311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稳定可靠的MVVM架构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4356100" y="44704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采用单向数据流设计模式，实现视图与业务逻辑的解耦。数据变更自动驱动UI刷新，从底层架构上保障了应用在长时间运行和复杂操作下的稳定性，为老年用户提供无卡顿的流畅体验。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24" name="Connector 24"/>
          <p:cNvCxnSpPr/>
          <p:nvPr>
            <p:custDataLst>
              <p:tags r:id="rId22"/>
            </p:custDataLst>
          </p:nvPr>
        </p:nvCxnSpPr>
        <p:spPr>
          <a:xfrm rot="5390450">
            <a:off x="55245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23"/>
            </p:custDataLst>
          </p:nvPr>
        </p:nvSpPr>
        <p:spPr>
          <a:xfrm>
            <a:off x="5992495" y="5461635"/>
            <a:ext cx="6068060" cy="1258570"/>
          </a:xfrm>
          <a:prstGeom prst="roundRect">
            <a:avLst>
              <a:gd name="adj" fmla="val 0"/>
            </a:avLst>
          </a:prstGeom>
          <a:solidFill>
            <a:srgbClr val="1E88E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utoShape 28"/>
          <p:cNvSpPr/>
          <p:nvPr>
            <p:custDataLst>
              <p:tags r:id="rId24"/>
            </p:custDataLst>
          </p:nvPr>
        </p:nvSpPr>
        <p:spPr>
          <a:xfrm>
            <a:off x="6096000" y="573532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适老化界面实拍效果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>
            <p:custDataLst>
              <p:tags r:id="rId25"/>
            </p:custDataLst>
          </p:nvPr>
        </p:nvSpPr>
        <p:spPr>
          <a:xfrm>
            <a:off x="6096000" y="6025515"/>
            <a:ext cx="5838825" cy="6946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大图标、高对比度的简易桌面布局，将常用功能前置。通过扁平化的视觉层级和清晰的色彩区分，有效降低误触率，让老年用户也能像使用实体按键一样轻松上手。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0" name="图片 29" descr="people_added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9610" y="67310"/>
            <a:ext cx="3117215" cy="6028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5455" y="702310"/>
            <a:ext cx="11726545" cy="615569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05 核心功能二：微信一键直拨</a:t>
            </a:r>
            <a:endParaRPr 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1E88E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EF444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14605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痛点直击：传统操作链路冗长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1841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微信原生视频通话需手动完成7步复杂操作，老年用户难以记忆完整流程，视力与操作精度的限制进一步导致交互失败率高，无法实现“一键即用”的无障碍沟通。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397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ap="flat" cmpd="sng">
            <a:solidFill>
              <a:srgbClr val="1E88E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540500" y="14605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技术方案：无障碍七阶段状态机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540500" y="1841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基于Android AccessibilityService构建全链路自动化引擎，将离散的人工操作转化为可执行的状态流转逻辑，通过精准的控件识别与动作模拟，将7步操作压缩为单次指令触发。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27940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27940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5500" y="2857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01 · 环境就绪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25500" y="32004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检测微信应用是否处于前台运行，验证主界面元素加载完整性，确保初始状态稳定。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556000" y="27940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556000" y="27940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619500" y="2857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02 · 入口激活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619500" y="32004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定位顶部搜索栏图标并执行点击，自动唤起检索输入框，为后续联系人定位做准备。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27940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27940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13500" y="2857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03 · 目标检索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13500" y="32004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自动填充预设的联系人关键词，触发即时模糊搜索，快速过滤出目标联系人候选列表。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144000" y="27940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144000" y="27940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207500" y="2857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04 · 会话切入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207500" y="32004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匹配唯一联系人条目，自动点击进入单人聊天界面，完成从检索到对话窗口的跳转。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41275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41275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255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05 · 功能展开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25500" y="45339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精准定位右下角“+”号按钮，执行点击操作，完整呼出包含支付、相册、通话的扩展菜单。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3556000" y="41275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3556000" y="41275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36195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06 · 模式选择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3619500" y="45339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在扩展菜单中识别“视频通话”或“语音通话”选项，根据预设配置自动选中目标服务。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350000" y="41275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350000" y="41275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4135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07 · 指令执行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413500" y="45339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二次校验接收方信息无误后，模拟点击确认按钮，正式向服务器发起通话连接请求。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44000" y="4127500"/>
            <a:ext cx="2692400" cy="1206500"/>
          </a:xfrm>
          <a:prstGeom prst="roundRect">
            <a:avLst>
              <a:gd name="adj" fmla="val 0"/>
            </a:avLst>
          </a:prstGeom>
          <a:solidFill>
            <a:srgbClr val="E0F2FE">
              <a:alpha val="88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9144000" y="4127500"/>
            <a:ext cx="26924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92075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STEP 08 · 资源复位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9207500" y="4533900"/>
            <a:ext cx="2565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释放无障碍服务临时资源，清除状态标记，将系统恢复至初始监听态，保障下次执行。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762000" y="5461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762000" y="546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89000" y="5524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双通道节点检索</a:t>
            </a:r>
            <a:endParaRPr lang="en-US" sz="13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889000" y="58420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ID主通道+文本备通道，兼容微信版本迭代的UI结构变化，提升控件定位鲁棒性。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708400" y="5461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3708400" y="546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AutoShape 50"/>
          <p:cNvSpPr/>
          <p:nvPr/>
        </p:nvSpPr>
        <p:spPr>
          <a:xfrm>
            <a:off x="3835400" y="5524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焦点退避机制</a:t>
            </a:r>
            <a:endParaRPr lang="en-US" sz="13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3835400" y="58420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自动化前主动释放系统焦点，避免ViewRoot层级冲突，确保无障碍事件被正确消费。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52" name="AutoShape 52"/>
          <p:cNvSpPr/>
          <p:nvPr/>
        </p:nvSpPr>
        <p:spPr>
          <a:xfrm>
            <a:off x="6654800" y="5461000"/>
            <a:ext cx="285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654800" y="5461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AutoShape 54"/>
          <p:cNvSpPr/>
          <p:nvPr/>
        </p:nvSpPr>
        <p:spPr>
          <a:xfrm>
            <a:off x="6781800" y="5524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心跳防死锁逻辑</a:t>
            </a:r>
            <a:endParaRPr lang="en-US" sz="13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55" name="AutoShape 55"/>
          <p:cNvSpPr/>
          <p:nvPr/>
        </p:nvSpPr>
        <p:spPr>
          <a:xfrm>
            <a:off x="6781800" y="5842000"/>
            <a:ext cx="266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单状态停留超时强制中断，配合增量重试策略，有效规避页面卡顿导致的程序死锁。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56" name="AutoShape 56"/>
          <p:cNvSpPr/>
          <p:nvPr/>
        </p:nvSpPr>
        <p:spPr>
          <a:xfrm>
            <a:off x="9588500" y="5461000"/>
            <a:ext cx="2413000" cy="1206500"/>
          </a:xfrm>
          <a:prstGeom prst="roundRect">
            <a:avLst>
              <a:gd name="adj" fmla="val 0"/>
            </a:avLst>
          </a:prstGeom>
          <a:solidFill>
            <a:srgbClr val="1E88E5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AutoShape 57"/>
          <p:cNvSpPr/>
          <p:nvPr/>
        </p:nvSpPr>
        <p:spPr>
          <a:xfrm>
            <a:off x="9652000" y="55245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实测执行成功率</a:t>
            </a:r>
            <a:endParaRPr lang="en-US" sz="1200" b="0" i="0" u="none" strike="noStrike">
              <a:solidFill>
                <a:srgbClr val="FFFFFF">
                  <a:alpha val="94902"/>
                </a:srgbClr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58" name="AutoShape 58"/>
          <p:cNvSpPr/>
          <p:nvPr/>
        </p:nvSpPr>
        <p:spPr>
          <a:xfrm>
            <a:off x="9652000" y="5778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99.1%</a:t>
            </a:r>
            <a:endParaRPr lang="en-US" sz="2200" b="1" i="0" u="none" strike="noStrike">
              <a:solidFill>
                <a:srgbClr val="FFFFFF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59" name="AutoShape 59"/>
          <p:cNvSpPr/>
          <p:nvPr/>
        </p:nvSpPr>
        <p:spPr>
          <a:xfrm>
            <a:off x="9652000" y="6159500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BEAFE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平均耗时仅 5.4s</a:t>
            </a:r>
            <a:endParaRPr lang="en-US" sz="1100" b="0" i="0" u="none" strike="noStrike">
              <a:solidFill>
                <a:srgbClr val="DBEAFE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" name="图片 6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35" y="0"/>
            <a:ext cx="6200775" cy="6646545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1211580" y="227965"/>
            <a:ext cx="2648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微信一键直拨演示图</a:t>
            </a:r>
            <a:endParaRPr lang="zh-CN" altLang="en-US" sz="1800" b="1"/>
          </a:p>
        </p:txBody>
      </p:sp>
      <p:sp>
        <p:nvSpPr>
          <p:cNvPr id="75" name="AutoShape 52"/>
          <p:cNvSpPr/>
          <p:nvPr/>
        </p:nvSpPr>
        <p:spPr>
          <a:xfrm>
            <a:off x="350520" y="5006340"/>
            <a:ext cx="4942205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97205" y="5194300"/>
            <a:ext cx="4649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+mn-lt"/>
                <a:cs typeface="+mn-lt"/>
              </a:rPr>
              <a:t>其中联系人周一跌的头像可以自定义头像，其微信昵称被设置成</a:t>
            </a:r>
            <a:r>
              <a:rPr lang="en-US" altLang="zh-CN" sz="1600">
                <a:latin typeface="+mn-lt"/>
                <a:cs typeface="+mn-lt"/>
              </a:rPr>
              <a:t>“</a:t>
            </a:r>
            <a:r>
              <a:rPr lang="zh-CN" altLang="en-US" sz="1600">
                <a:latin typeface="+mn-lt"/>
                <a:ea typeface="宋体" panose="02010600030101010101" pitchFamily="2" charset="-122"/>
                <a:cs typeface="+mn-lt"/>
              </a:rPr>
              <a:t>米佑籽</a:t>
            </a:r>
            <a:r>
              <a:rPr lang="en-US" altLang="zh-CN" sz="1600">
                <a:latin typeface="+mn-lt"/>
                <a:ea typeface="宋体" panose="02010600030101010101" pitchFamily="2" charset="-122"/>
                <a:cs typeface="+mn-lt"/>
              </a:rPr>
              <a:t>”</a:t>
            </a:r>
            <a:r>
              <a:rPr lang="zh-CN" altLang="en-US" sz="1600">
                <a:latin typeface="+mn-lt"/>
                <a:ea typeface="宋体" panose="02010600030101010101" pitchFamily="2" charset="-122"/>
                <a:cs typeface="+mn-lt"/>
              </a:rPr>
              <a:t>，所以在微信自动搜索匹配。</a:t>
            </a:r>
            <a:endParaRPr lang="en-US" altLang="zh-CN" sz="1600"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76" name="AutoShape 36"/>
          <p:cNvSpPr/>
          <p:nvPr/>
        </p:nvSpPr>
        <p:spPr>
          <a:xfrm>
            <a:off x="351155" y="1685925"/>
            <a:ext cx="4941570" cy="1029335"/>
          </a:xfrm>
          <a:prstGeom prst="roundRect">
            <a:avLst>
              <a:gd name="adj" fmla="val 0"/>
            </a:avLst>
          </a:prstGeom>
          <a:solidFill>
            <a:srgbClr val="EBF5FF">
              <a:alpha val="92000"/>
            </a:srgbClr>
          </a:solidFill>
          <a:ln w="12700" cap="flat" cmpd="sng">
            <a:solidFill>
              <a:srgbClr val="1E88E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zh-CN" sz="1600"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在添加联系人之后，目标人群只需点击对于联系人的头像，并简单根据按钮颜色即可选择想要的通话方式，如</a:t>
            </a:r>
            <a:r>
              <a:rPr lang="en-US" altLang="zh-CN" sz="1600"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1600"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图所示。</a:t>
            </a:r>
            <a:endParaRPr lang="zh-CN" altLang="en-US" sz="1600">
              <a:latin typeface="+mn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+mn-lt"/>
                <a:ea typeface="+mn-ea"/>
                <a:cs typeface="+mn-lt"/>
                <a:sym typeface="Noto Sans SC"/>
              </a:rPr>
              <a:t>06 核心功能三：WiFi守护与语音辅助</a:t>
            </a:r>
            <a:endParaRPr lang="en-US" sz="3200" b="1" i="0" u="none" strike="noStrike">
              <a:solidFill>
                <a:srgbClr val="1F2937"/>
              </a:solidFill>
              <a:latin typeface="+mn-lt"/>
              <a:ea typeface="+mn-ea"/>
              <a:cs typeface="+mn-lt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1549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95400" y="1536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Noto Sans SC"/>
                <a:cs typeface="+mn-lt"/>
                <a:sym typeface="Noto Sans SC"/>
              </a:rPr>
              <a:t>WiFi网络</a:t>
            </a: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+mn-ea"/>
                <a:cs typeface="+mn-lt"/>
                <a:sym typeface="Noto Sans SC"/>
              </a:rPr>
              <a:t>全天候</a:t>
            </a: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Noto Sans SC"/>
                <a:cs typeface="+mn-lt"/>
                <a:sym typeface="Noto Sans SC"/>
              </a:rPr>
              <a:t>守护体系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19685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构建前台守护、回调监听、无障碍自启、用户引导的四层防护网。当检测到网络异常时，系统自动进入“断网自愈”模式，通过即时响应、宽限等待与超时干预的三级机制，将网络波动对用户的影响降至最低。</a:t>
            </a:r>
            <a:endParaRPr lang="en-US" sz="1300" b="0" i="0" u="none" strike="noStrike">
              <a:solidFill>
                <a:srgbClr val="374151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2984500"/>
            <a:ext cx="5016500" cy="762000"/>
          </a:xfrm>
          <a:prstGeom prst="roundRect">
            <a:avLst>
              <a:gd name="adj" fmla="val 0"/>
            </a:avLst>
          </a:prstGeom>
          <a:solidFill>
            <a:srgbClr val="1E88E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035300"/>
            <a:ext cx="4762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实测数据：断网自愈成功率达</a:t>
            </a:r>
            <a:r>
              <a:rPr lang="en-US" sz="1300" b="1" i="0" u="none" strike="noStrike">
                <a:solidFill>
                  <a:srgbClr val="DC2626"/>
                </a:solidFill>
                <a:latin typeface="+mn-lt"/>
                <a:ea typeface="Noto Sans SC"/>
                <a:cs typeface="+mn-lt"/>
                <a:sym typeface="Noto Sans SC"/>
              </a:rPr>
              <a:t>100%</a:t>
            </a:r>
            <a:r>
              <a:rPr lang="en-US" sz="1300" b="0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，平均恢复耗时仅4-5秒，实现老年人无感的网络连接体验。</a:t>
            </a:r>
            <a:endParaRPr lang="en-US" sz="1100">
              <a:latin typeface="+mn-lt"/>
              <a:cs typeface="+mn-lt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86500" y="1397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865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549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19900" y="15367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+mn-lt"/>
                <a:ea typeface="+mn-ea"/>
                <a:cs typeface="Noto Sans SC"/>
                <a:sym typeface="Noto Sans SC"/>
              </a:rPr>
              <a:t>适老化智能语音交互引擎</a:t>
            </a:r>
            <a:endParaRPr lang="en-US" sz="1100">
              <a:latin typeface="+mn-lt"/>
              <a:ea typeface="+mn-ea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13500" y="19685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+mn-lt"/>
                <a:ea typeface="Noto Sans SC"/>
                <a:cs typeface="+mn-lt"/>
                <a:sym typeface="Noto Sans SC"/>
              </a:rPr>
              <a:t>深度定制Android TTS引擎，将播报语速调至0.9倍更贴合老年听觉习惯。针对日常通话场景，设计了关键词模糊匹配算法，即使在方言或发音不标准的情况下，也能通过容错机制准确理解用户意图。</a:t>
            </a:r>
            <a:endParaRPr lang="en-US" sz="1300" b="0" i="0" u="none" strike="noStrike">
              <a:solidFill>
                <a:srgbClr val="374151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13500" y="2984500"/>
            <a:ext cx="5016500" cy="762000"/>
          </a:xfrm>
          <a:prstGeom prst="roundRect">
            <a:avLst>
              <a:gd name="adj" fmla="val 0"/>
            </a:avLst>
          </a:prstGeom>
          <a:solidFill>
            <a:srgbClr val="1E88E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3035300"/>
            <a:ext cx="4762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+mn-lt"/>
                <a:ea typeface="+mn-ea"/>
                <a:cs typeface="+mn-lt"/>
                <a:sym typeface="Noto Sans SC"/>
              </a:rPr>
              <a:t>技术亮点：支持1字符编辑距离容错，联系人检索采用“全字→包含→首字母→模糊”四层递进策略，大幅降低操作门槛。</a:t>
            </a:r>
            <a:endParaRPr lang="en-US" sz="1300" b="0" i="0" u="none" strike="noStrike">
              <a:solidFill>
                <a:srgbClr val="1F2937"/>
              </a:solidFill>
              <a:latin typeface="+mn-lt"/>
              <a:ea typeface="+mn-ea"/>
              <a:cs typeface="+mn-lt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064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5F9FF">
              <a:alpha val="92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89000" y="4127500"/>
            <a:ext cx="501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+mn-lt"/>
                <a:ea typeface="Noto Sans SC"/>
                <a:cs typeface="+mn-lt"/>
                <a:sym typeface="Noto Sans SC"/>
              </a:rPr>
              <a:t>WiFi断网自愈执行流程</a:t>
            </a:r>
            <a:endParaRPr lang="en-US" sz="1400" b="1" i="0" u="none" strike="noStrike">
              <a:solidFill>
                <a:srgbClr val="1F2937"/>
              </a:solidFill>
              <a:latin typeface="+mn-lt"/>
              <a:ea typeface="Noto Sans SC"/>
              <a:cs typeface="+mn-lt"/>
              <a:sym typeface="Noto Sans SC"/>
            </a:endParaRPr>
          </a:p>
        </p:txBody>
      </p:sp>
      <p:sp>
        <p:nvSpPr>
          <p:cNvPr id="20" name="AutoShape 20"/>
          <p:cNvSpPr/>
          <p:nvPr>
            <p:custDataLst>
              <p:tags r:id="rId6"/>
            </p:custDataLst>
          </p:nvPr>
        </p:nvSpPr>
        <p:spPr>
          <a:xfrm>
            <a:off x="8890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1" name="AutoShape 21"/>
          <p:cNvSpPr/>
          <p:nvPr>
            <p:custDataLst>
              <p:tags r:id="rId7"/>
            </p:custDataLst>
          </p:nvPr>
        </p:nvSpPr>
        <p:spPr>
          <a:xfrm>
            <a:off x="9144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即时响应</a:t>
            </a:r>
            <a:endParaRPr lang="en-US" sz="13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9144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断网即触发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自动重连服务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23" name="AutoShape 23"/>
          <p:cNvSpPr/>
          <p:nvPr>
            <p:custDataLst>
              <p:tags r:id="rId9"/>
            </p:custDataLst>
          </p:nvPr>
        </p:nvSpPr>
        <p:spPr>
          <a:xfrm>
            <a:off x="25908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4" name="AutoShape 24"/>
          <p:cNvSpPr/>
          <p:nvPr>
            <p:custDataLst>
              <p:tags r:id="rId10"/>
            </p:custDataLst>
          </p:nvPr>
        </p:nvSpPr>
        <p:spPr>
          <a:xfrm>
            <a:off x="26162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宽限等待</a:t>
            </a:r>
            <a:endParaRPr lang="en-US" sz="13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26162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20秒窗口期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等待自然恢复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26" name="AutoShape 26"/>
          <p:cNvSpPr/>
          <p:nvPr>
            <p:custDataLst>
              <p:tags r:id="rId12"/>
            </p:custDataLst>
          </p:nvPr>
        </p:nvSpPr>
        <p:spPr>
          <a:xfrm>
            <a:off x="42926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FFF7E6">
              <a:alpha val="10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27" name="AutoShape 27"/>
          <p:cNvSpPr/>
          <p:nvPr>
            <p:custDataLst>
              <p:tags r:id="rId13"/>
            </p:custDataLst>
          </p:nvPr>
        </p:nvSpPr>
        <p:spPr>
          <a:xfrm>
            <a:off x="43180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A580C"/>
                </a:solidFill>
                <a:latin typeface="+mn-lt"/>
                <a:ea typeface="Noto Sans SC"/>
                <a:cs typeface="Noto Sans SC"/>
                <a:sym typeface="Noto Sans SC"/>
              </a:rPr>
              <a:t>超时干预</a:t>
            </a:r>
            <a:endParaRPr lang="en-US" sz="1300" b="1" i="0" u="none" strike="noStrike">
              <a:solidFill>
                <a:srgbClr val="EA580C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>
            <p:custDataLst>
              <p:tags r:id="rId14"/>
            </p:custDataLst>
          </p:nvPr>
        </p:nvSpPr>
        <p:spPr>
          <a:xfrm>
            <a:off x="43180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弹窗+语音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引导用户检查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86500" y="4064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5F9FF">
              <a:alpha val="92000"/>
            </a:srgbClr>
          </a:solidFill>
          <a:ln w="12700" cap="flat" cmpd="sng">
            <a:solidFill>
              <a:srgbClr val="1E88E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413500" y="4127500"/>
            <a:ext cx="501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+mn-lt"/>
                <a:ea typeface="Noto Sans SC"/>
                <a:cs typeface="Noto Sans SC"/>
                <a:sym typeface="Noto Sans SC"/>
              </a:rPr>
              <a:t>语音指令智能处理链路</a:t>
            </a:r>
            <a:endParaRPr lang="en-US" sz="1400" b="1" i="0" u="none" strike="noStrike">
              <a:solidFill>
                <a:srgbClr val="1F2937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>
            <p:custDataLst>
              <p:tags r:id="rId15"/>
            </p:custDataLst>
          </p:nvPr>
        </p:nvSpPr>
        <p:spPr>
          <a:xfrm>
            <a:off x="64135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2" name="AutoShape 32"/>
          <p:cNvSpPr/>
          <p:nvPr>
            <p:custDataLst>
              <p:tags r:id="rId16"/>
            </p:custDataLst>
          </p:nvPr>
        </p:nvSpPr>
        <p:spPr>
          <a:xfrm>
            <a:off x="64389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语音采集</a:t>
            </a:r>
            <a:endParaRPr lang="en-US" sz="13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>
            <p:custDataLst>
              <p:tags r:id="rId17"/>
            </p:custDataLst>
          </p:nvPr>
        </p:nvSpPr>
        <p:spPr>
          <a:xfrm>
            <a:off x="64389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拾取用户语音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适老化转写识别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34" name="AutoShape 34"/>
          <p:cNvSpPr/>
          <p:nvPr>
            <p:custDataLst>
              <p:tags r:id="rId18"/>
            </p:custDataLst>
          </p:nvPr>
        </p:nvSpPr>
        <p:spPr>
          <a:xfrm>
            <a:off x="81153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5" name="AutoShape 35"/>
          <p:cNvSpPr/>
          <p:nvPr>
            <p:custDataLst>
              <p:tags r:id="rId19"/>
            </p:custDataLst>
          </p:nvPr>
        </p:nvSpPr>
        <p:spPr>
          <a:xfrm>
            <a:off x="81407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88E5"/>
                </a:solidFill>
                <a:latin typeface="+mn-lt"/>
                <a:ea typeface="Noto Sans SC"/>
                <a:cs typeface="Noto Sans SC"/>
                <a:sym typeface="Noto Sans SC"/>
              </a:rPr>
              <a:t>语义解析</a:t>
            </a:r>
            <a:endParaRPr lang="en-US" sz="1300" b="1" i="0" u="none" strike="noStrike">
              <a:solidFill>
                <a:srgbClr val="1E88E5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>
            <p:custDataLst>
              <p:tags r:id="rId20"/>
            </p:custDataLst>
          </p:nvPr>
        </p:nvSpPr>
        <p:spPr>
          <a:xfrm>
            <a:off x="81407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关键词匹配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容错偏差修正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  <p:sp>
        <p:nvSpPr>
          <p:cNvPr id="37" name="AutoShape 37"/>
          <p:cNvSpPr/>
          <p:nvPr>
            <p:custDataLst>
              <p:tags r:id="rId21"/>
            </p:custDataLst>
          </p:nvPr>
        </p:nvSpPr>
        <p:spPr>
          <a:xfrm>
            <a:off x="9817100" y="4572000"/>
            <a:ext cx="1625600" cy="1079500"/>
          </a:xfrm>
          <a:prstGeom prst="roundRect">
            <a:avLst>
              <a:gd name="adj" fmla="val 0"/>
            </a:avLst>
          </a:prstGeom>
          <a:solidFill>
            <a:srgbClr val="E6F9EF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+mn-lt"/>
              <a:cs typeface="+mn-lt"/>
            </a:endParaRPr>
          </a:p>
        </p:txBody>
      </p:sp>
      <p:sp>
        <p:nvSpPr>
          <p:cNvPr id="38" name="AutoShape 38"/>
          <p:cNvSpPr/>
          <p:nvPr>
            <p:custDataLst>
              <p:tags r:id="rId22"/>
            </p:custDataLst>
          </p:nvPr>
        </p:nvSpPr>
        <p:spPr>
          <a:xfrm>
            <a:off x="9842500" y="4635500"/>
            <a:ext cx="157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59669"/>
                </a:solidFill>
                <a:latin typeface="+mn-lt"/>
                <a:ea typeface="Noto Sans SC"/>
                <a:cs typeface="Noto Sans SC"/>
                <a:sym typeface="Noto Sans SC"/>
              </a:rPr>
              <a:t>执行拨号</a:t>
            </a:r>
            <a:endParaRPr lang="en-US" sz="1300" b="1" i="0" u="none" strike="noStrike">
              <a:solidFill>
                <a:srgbClr val="059669"/>
              </a:solidFill>
              <a:latin typeface="+mn-lt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39"/>
          <p:cNvSpPr/>
          <p:nvPr>
            <p:custDataLst>
              <p:tags r:id="rId23"/>
            </p:custDataLst>
          </p:nvPr>
        </p:nvSpPr>
        <p:spPr>
          <a:xfrm>
            <a:off x="9842500" y="4953000"/>
            <a:ext cx="1574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联系人定位</a:t>
            </a:r>
            <a:b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+mn-lt"/>
                <a:ea typeface="+mn-ea"/>
                <a:cs typeface="+mn-lt"/>
                <a:sym typeface="Noto Sans SC"/>
              </a:rPr>
              <a:t>一键发起通话</a:t>
            </a:r>
            <a:endParaRPr lang="en-US" sz="1100">
              <a:latin typeface="+mn-lt"/>
              <a:ea typeface="+mn-ea"/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b="1">
                <a:solidFill>
                  <a:srgbClr val="1E88E5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桌面主页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91515" y="123825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07 系统演示与界面展示</a:t>
            </a:r>
            <a:endParaRPr 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0385" y="6459220"/>
            <a:ext cx="1619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首次启动引导页</a:t>
            </a:r>
            <a:endParaRPr lang="zh-CN" altLang="en-US"/>
          </a:p>
        </p:txBody>
      </p:sp>
      <p:pic>
        <p:nvPicPr>
          <p:cNvPr id="20" name="图片 19" descr="deskto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" y="851535"/>
            <a:ext cx="2461895" cy="5454015"/>
          </a:xfrm>
          <a:prstGeom prst="rect">
            <a:avLst/>
          </a:prstGeom>
        </p:spPr>
      </p:pic>
      <p:pic>
        <p:nvPicPr>
          <p:cNvPr id="21" name="图片 20" descr="deskto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610" y="851535"/>
            <a:ext cx="2472055" cy="54387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071495" y="6485255"/>
            <a:ext cx="1619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E88E5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权限指引画面</a:t>
            </a:r>
            <a:endParaRPr lang="zh-CN" altLang="en-US" b="1">
              <a:solidFill>
                <a:srgbClr val="1E88E5"/>
              </a:solidFill>
              <a:latin typeface="Arial" panose="020B0604020202020204" pitchFamily="34" charset="0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  <p:pic>
        <p:nvPicPr>
          <p:cNvPr id="23" name="图片 22" descr="desktop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745" y="851535"/>
            <a:ext cx="2472055" cy="54387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999480" y="6383020"/>
            <a:ext cx="1619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E88E5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桌面主页</a:t>
            </a:r>
            <a:endParaRPr lang="zh-CN" altLang="en-US" b="1">
              <a:solidFill>
                <a:srgbClr val="1E88E5"/>
              </a:solidFill>
              <a:latin typeface="Arial" panose="020B0604020202020204" pitchFamily="34" charset="0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  <p:pic>
        <p:nvPicPr>
          <p:cNvPr id="25" name="图片 24" descr="test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880" y="851535"/>
            <a:ext cx="2460625" cy="54133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565515" y="6379210"/>
            <a:ext cx="22853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E88E5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添加联系人和应用的页面</a:t>
            </a:r>
            <a:endParaRPr lang="zh-CN" altLang="en-US" b="1">
              <a:solidFill>
                <a:srgbClr val="1E88E5"/>
              </a:solidFill>
              <a:latin typeface="Arial" panose="020B0604020202020204" pitchFamily="34" charset="0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08 测试与分析</a:t>
            </a:r>
            <a:endParaRPr 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858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397000"/>
          <a:ext cx="6858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/>
                <a:gridCol w="2286000"/>
                <a:gridCol w="2413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Noto Sans SC"/>
                          <a:cs typeface="Noto Sans SC"/>
                          <a:sym typeface="Noto Sans SC"/>
                        </a:rPr>
                        <a:t>关键性能指标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8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Noto Sans SC"/>
                          <a:cs typeface="Noto Sans SC"/>
                          <a:sym typeface="Noto Sans SC"/>
                        </a:rPr>
                        <a:t>实测结果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8E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Noto Sans SC"/>
                          <a:cs typeface="Noto Sans SC"/>
                          <a:sym typeface="Noto Sans SC"/>
                        </a:rPr>
                        <a:t>验收标准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8E5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冷启动时间 / 主屏帧率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1.15秒 / 60.1 fps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&lt; 2秒 / ≥ 60 fps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微信直拨 / WiFi自愈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99.1% / 100%</a:t>
                      </a:r>
                      <a:endParaRPr lang="en-US" sz="1200" b="1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&gt; 99% / 100%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Noto Sans SC"/>
                          <a:sym typeface="Noto Sans SC"/>
                        </a:rPr>
                        <a:t>核心资源占用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内存95~115MB / CPU &lt;1%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内存 &lt;150MB / 无硬性限制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8小时续航耗电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3% ~ 5%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Arial" panose="020B0604020202020204" pitchFamily="34" charset="0"/>
                          <a:ea typeface="Noto Sans SC"/>
                          <a:cs typeface="Arial" panose="020B0604020202020204" pitchFamily="34" charset="0"/>
                          <a:sym typeface="Noto Sans SC"/>
                        </a:rPr>
                        <a:t>&lt; 6%</a:t>
                      </a:r>
                      <a:endParaRPr lang="en-US" sz="1200" b="0" i="0" u="none" strike="noStrike">
                        <a:solidFill>
                          <a:srgbClr val="1F2329"/>
                        </a:solidFill>
                        <a:latin typeface="Arial" panose="020B0604020202020204" pitchFamily="34" charset="0"/>
                        <a:ea typeface="Noto Sans SC"/>
                        <a:cs typeface="Arial" panose="020B0604020202020204" pitchFamily="34" charset="0"/>
                        <a:sym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4064000"/>
            <a:ext cx="16129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4064000"/>
            <a:ext cx="16129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25500" y="4254500"/>
            <a:ext cx="14859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6款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825500" y="4762500"/>
            <a:ext cx="1485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真机全覆盖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825500" y="5334000"/>
            <a:ext cx="1485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一加、荣耀、华为等主流旗舰机型，覆盖不同屏幕与硬件配置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2463800" y="4064000"/>
            <a:ext cx="16129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2463800" y="4064000"/>
            <a:ext cx="16129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2527300" y="4254500"/>
            <a:ext cx="14859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2大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2527300" y="4762500"/>
            <a:ext cx="1485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芯片平台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2527300" y="5334000"/>
            <a:ext cx="1485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骁龙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和</a:t>
            </a: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麒麟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两</a:t>
            </a: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大主流移动平台，验证异构计算稳定性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4165600" y="4064000"/>
            <a:ext cx="16129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4165600" y="4064000"/>
            <a:ext cx="16129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4229100" y="4254500"/>
            <a:ext cx="14859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3+1代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4229100" y="4762500"/>
            <a:ext cx="1485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系统版本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4229100" y="5334000"/>
            <a:ext cx="1485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Android 14至16全系列，深度适配HarmonyOS NEXT系统环境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5867400" y="4064000"/>
            <a:ext cx="16129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5867400" y="4064000"/>
            <a:ext cx="16129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23"/>
          <p:cNvSpPr/>
          <p:nvPr>
            <p:custDataLst>
              <p:tags r:id="rId19"/>
            </p:custDataLst>
          </p:nvPr>
        </p:nvSpPr>
        <p:spPr>
          <a:xfrm>
            <a:off x="5930900" y="4254500"/>
            <a:ext cx="14859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4种</a:t>
            </a:r>
            <a:endParaRPr lang="en-US" sz="16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4" name="AutoShape 24"/>
          <p:cNvSpPr/>
          <p:nvPr>
            <p:custDataLst>
              <p:tags r:id="rId20"/>
            </p:custDataLst>
          </p:nvPr>
        </p:nvSpPr>
        <p:spPr>
          <a:xfrm>
            <a:off x="5930900" y="4762500"/>
            <a:ext cx="14859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厂商OS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5" name="AutoShape 25"/>
          <p:cNvSpPr/>
          <p:nvPr>
            <p:custDataLst>
              <p:tags r:id="rId21"/>
            </p:custDataLst>
          </p:nvPr>
        </p:nvSpPr>
        <p:spPr>
          <a:xfrm>
            <a:off x="5930900" y="5334000"/>
            <a:ext cx="1485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ColorOS、MagicOS、OriginOS及HarmonyOS深度定制适配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26" name="Connector 26"/>
          <p:cNvCxnSpPr/>
          <p:nvPr/>
        </p:nvCxnSpPr>
        <p:spPr>
          <a:xfrm rot="5391296">
            <a:off x="5365750" y="3898908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88E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064500" y="1397000"/>
            <a:ext cx="3873500" cy="1714500"/>
          </a:xfrm>
          <a:prstGeom prst="roundRect">
            <a:avLst>
              <a:gd name="adj" fmla="val 0"/>
            </a:avLst>
          </a:prstGeom>
          <a:solidFill>
            <a:srgbClr val="1E88E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91500" y="1460500"/>
            <a:ext cx="3619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核心业务达成率里程碑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191500" y="1905000"/>
            <a:ext cx="1841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191500" y="1968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99.1%</a:t>
            </a:r>
            <a:endParaRPr lang="en-US" sz="2400" b="1" i="0" u="none" strike="noStrike">
              <a:solidFill>
                <a:srgbClr val="10B98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191500" y="24384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微信直拨成功率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10096500" y="1905000"/>
            <a:ext cx="1841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0096500" y="1968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100%</a:t>
            </a:r>
            <a:endParaRPr lang="en-US" sz="24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0096500" y="24384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WiFi自愈成功率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064500" y="3238500"/>
            <a:ext cx="387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8000" y="3238500"/>
            <a:ext cx="3746500" cy="1968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7" name="AutoShape 37"/>
          <p:cNvSpPr/>
          <p:nvPr/>
        </p:nvSpPr>
        <p:spPr>
          <a:xfrm>
            <a:off x="8064500" y="5334000"/>
            <a:ext cx="3873500" cy="1079500"/>
          </a:xfrm>
          <a:prstGeom prst="roundRect">
            <a:avLst>
              <a:gd name="adj" fmla="val 0"/>
            </a:avLst>
          </a:prstGeom>
          <a:solidFill>
            <a:srgbClr val="F0F9FF">
              <a:alpha val="90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191500" y="5397500"/>
            <a:ext cx="361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实测结论：核心性能指标全面优于预设目标。在多端异构与复杂网络环境下，系统运行稳定，核心业务成功率达标，可支撑规模化商用部署。</a:t>
            </a:r>
            <a:endParaRPr lang="en-US" sz="1200" b="0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09 总结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与展望</a:t>
            </a:r>
            <a:endParaRPr lang="zh-CN" altLang="en-US" sz="3200" b="1" i="0" u="none" strike="noStrike">
              <a:solidFill>
                <a:srgbClr val="1F2937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889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首创适老化微内核架构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889000" y="2159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突破传统设计模式，首创三层微内核架构。实现业务模块的高度解耦与故障隔离，大幅提升系统稳定性，让老年用户的操作体验更流畅、更可靠。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556000" y="1524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556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683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跨版本一键直拨技术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683000" y="2159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创新应用七阶段状态机与双通道节点检索算法，成功穿透微信复杂环境。在跨大版本测试中，达成99.1%的一键直拨成功率，解决了连接不稳定的行业痛点。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350000" y="1524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350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477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WiFi断网自愈闭环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6477000" y="2159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构建前台守护进程、无障碍自动跳转与可视化引导面板的三重防护。在网络异常场景下，实现了100%的引导自愈率，让无网络知识的老人也能轻松恢复连接。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9144000" y="1524000"/>
            <a:ext cx="266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E88E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9144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E88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9271000" y="167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88E5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轻量级端侧语音交互</a:t>
            </a:r>
            <a:endParaRPr lang="en-US" sz="1500" b="1" i="0" u="none" strike="noStrike">
              <a:solidFill>
                <a:srgbClr val="1E88E5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9271000" y="21590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无需依赖云端大模型，通过关键词匹配、编辑距离容错及四层联系人模糊算法。在低算力设备上实现毫秒级响应，兼顾了识别精准度与终端运行效率。</a:t>
            </a:r>
            <a:endParaRPr lang="en-US" sz="1200" b="0" i="0" u="none" strike="noStrike">
              <a:solidFill>
                <a:srgbClr val="374151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762000" y="3683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88E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762000" y="3683000"/>
            <a:ext cx="2667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889000" y="38100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端侧AI大模型集成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889000" y="4254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部署轻量级本地化模型，从指令执行升级为具备理解能力的智能对话。为独居老人提供更具情感的主动陪伴与自然语言交互体验。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3556000" y="3683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88E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3556000" y="3683000"/>
            <a:ext cx="2667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3683000" y="38100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健康监测插件扩展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>
            <p:custDataLst>
              <p:tags r:id="rId25"/>
            </p:custDataLst>
          </p:nvPr>
        </p:nvSpPr>
        <p:spPr>
          <a:xfrm>
            <a:off x="3683000" y="4254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开放健康数据接口，无缝接入血压计、血糖仪等设备。实现数据自动采集与异常预警，将终端打造为老年人的随身健康小管家。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>
            <p:custDataLst>
              <p:tags r:id="rId26"/>
            </p:custDataLst>
          </p:nvPr>
        </p:nvSpPr>
        <p:spPr>
          <a:xfrm>
            <a:off x="6350000" y="3683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88E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utoShape 29"/>
          <p:cNvSpPr/>
          <p:nvPr>
            <p:custDataLst>
              <p:tags r:id="rId27"/>
            </p:custDataLst>
          </p:nvPr>
        </p:nvSpPr>
        <p:spPr>
          <a:xfrm>
            <a:off x="6350000" y="3683000"/>
            <a:ext cx="2667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6477000" y="38100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全屋智能家居联动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>
            <p:custDataLst>
              <p:tags r:id="rId29"/>
            </p:custDataLst>
          </p:nvPr>
        </p:nvSpPr>
        <p:spPr>
          <a:xfrm>
            <a:off x="6477000" y="4254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全面适配Matter互联协议，打破品牌壁垒。支持通过语音或简易按钮，让老年人轻松控制灯光、家电等设备，享受智慧生活便利。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2" name="AutoShape 32"/>
          <p:cNvSpPr/>
          <p:nvPr>
            <p:custDataLst>
              <p:tags r:id="rId30"/>
            </p:custDataLst>
          </p:nvPr>
        </p:nvSpPr>
        <p:spPr>
          <a:xfrm>
            <a:off x="9144000" y="3683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F0F7FF">
              <a:alpha val="95000"/>
            </a:srgbClr>
          </a:solidFill>
          <a:ln w="12700" cap="flat" cmpd="sng">
            <a:solidFill>
              <a:srgbClr val="1E88E5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AutoShape 33"/>
          <p:cNvSpPr/>
          <p:nvPr>
            <p:custDataLst>
              <p:tags r:id="rId31"/>
            </p:custDataLst>
          </p:nvPr>
        </p:nvSpPr>
        <p:spPr>
          <a:xfrm>
            <a:off x="9144000" y="3683000"/>
            <a:ext cx="2667000" cy="38100"/>
          </a:xfrm>
          <a:prstGeom prst="roundRect">
            <a:avLst>
              <a:gd name="adj" fmla="val 0"/>
            </a:avLst>
          </a:prstGeom>
          <a:solidFill>
            <a:srgbClr val="1E88E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4"/>
          <p:cNvSpPr/>
          <p:nvPr>
            <p:custDataLst>
              <p:tags r:id="rId32"/>
            </p:custDataLst>
          </p:nvPr>
        </p:nvSpPr>
        <p:spPr>
          <a:xfrm>
            <a:off x="9271000" y="38100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开放插件开发者生态</a:t>
            </a:r>
            <a:endParaRPr lang="en-US" sz="1400" b="1" i="0" u="none" strike="noStrike">
              <a:solidFill>
                <a:srgbClr val="1F2937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/>
          <p:nvPr>
            <p:custDataLst>
              <p:tags r:id="rId33"/>
            </p:custDataLst>
          </p:nvPr>
        </p:nvSpPr>
        <p:spPr>
          <a:xfrm>
            <a:off x="9271000" y="4254500"/>
            <a:ext cx="241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提供标准化开发接口与工具链，降低适老化应用开发门槛。鼓励社区贡献特色插件，不断丰富产品功能，满足多元化的养老需求。</a:t>
            </a:r>
            <a:endParaRPr lang="en-US" sz="1200" b="0" i="0" u="none" strike="noStrike">
              <a:solidFill>
                <a:srgbClr val="4B5563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762000" y="5651500"/>
            <a:ext cx="11049000" cy="1016000"/>
          </a:xfrm>
          <a:prstGeom prst="roundRect">
            <a:avLst>
              <a:gd name="adj" fmla="val 0"/>
            </a:avLst>
          </a:prstGeom>
          <a:solidFill>
            <a:srgbClr val="1E88E5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7620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1E88E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952500" y="5753100"/>
            <a:ext cx="1060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4902"/>
                  </a:srgbClr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本课题通过四项核心技术创新，成功解决了适老化智能终端的连接、交互与稳定性痛点。未来，我们将以开放的生态与持续的技术迭代，让智能科技更有温度地融入老年生活，打造真正“懂老人、助老人”的下一代适老化服务平台。</a:t>
            </a:r>
            <a:endParaRPr lang="en-US" sz="1300" b="0" i="0" u="none" strike="noStrike">
              <a:solidFill>
                <a:srgbClr val="1F2937">
                  <a:alpha val="94902"/>
                </a:srgbClr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390140" y="2411095"/>
            <a:ext cx="7789545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感谢各位老师的指导与聆听。 </a:t>
            </a:r>
            <a:endParaRPr lang="zh-CN" altLang="en-US" sz="32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zh-CN" altLang="en-US" sz="32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恳请各位老师批评指正！</a:t>
            </a:r>
            <a:endParaRPr lang="zh-CN" altLang="en-US" sz="32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64000" y="420878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答辩人：周剑鑫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64000" y="4989830"/>
            <a:ext cx="28022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时间：</a:t>
            </a:r>
            <a:r>
              <a:rPr lang="en-US" altLang="zh-CN"/>
              <a:t>2026</a:t>
            </a:r>
            <a:r>
              <a:rPr lang="zh-CN" altLang="en-US">
                <a:ea typeface="宋体" panose="02010600030101010101" pitchFamily="2" charset="-122"/>
              </a:rPr>
              <a:t>年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月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号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64000" y="459930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专业：通信工程</a:t>
            </a:r>
            <a:r>
              <a:rPr lang="en-US" altLang="zh-CN"/>
              <a:t>2209</a:t>
            </a:r>
            <a:r>
              <a:rPr lang="zh-CN" altLang="en-US">
                <a:ea typeface="宋体" panose="02010600030101010101" pitchFamily="2" charset="-122"/>
              </a:rPr>
              <a:t>班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2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3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4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5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6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7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8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9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10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11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12.xml><?xml version="1.0" encoding="utf-8"?>
<p:tagLst xmlns:p="http://schemas.openxmlformats.org/presentationml/2006/main">
  <p:tag name="KSO_WM_DIAGRAM_VIRTUALLY_FRAME" val="{&quot;height&quot;:526.5,&quot;left&quot;:32,&quot;top&quot;:13.85,&quot;width&quot;:893}"/>
</p:tagLst>
</file>

<file path=ppt/tags/tag13.xml><?xml version="1.0" encoding="utf-8"?>
<p:tagLst xmlns:p="http://schemas.openxmlformats.org/presentationml/2006/main">
  <p:tag name="KSO_WM_DIAGRAM_VIRTUALLY_FRAME" val="{&quot;height&quot;:345.65,&quot;left&quot;:35.25,&quot;top&quot;:52.65,&quot;width&quot;:894.65}"/>
</p:tagLst>
</file>

<file path=ppt/tags/tag14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15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16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17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18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19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0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1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2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3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4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5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6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7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8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29.xml><?xml version="1.0" encoding="utf-8"?>
<p:tagLst xmlns:p="http://schemas.openxmlformats.org/presentationml/2006/main">
  <p:tag name="KSO_WM_DIAGRAM_VIRTUALLY_FRAME" val="{&quot;height&quot;:527.4,&quot;left&quot;:35.25,&quot;top&quot;:11,&quot;width&quot;:896.6}"/>
</p:tagLst>
</file>

<file path=ppt/tags/tag30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1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2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3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4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5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6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7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8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39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0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1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2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3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4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5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6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7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8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49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50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51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52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53.xml><?xml version="1.0" encoding="utf-8"?>
<p:tagLst xmlns:p="http://schemas.openxmlformats.org/presentationml/2006/main">
  <p:tag name="KSO_WM_DIAGRAM_VIRTUALLY_FRAME" val="{&quot;height&quot;:409.15,&quot;left&quot;:60,&quot;top&quot;:120,&quot;width&quot;:860}"/>
</p:tagLst>
</file>

<file path=ppt/tags/tag54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55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56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57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58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59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0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1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2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3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4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5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6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7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8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69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70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71.xml><?xml version="1.0" encoding="utf-8"?>
<p:tagLst xmlns:p="http://schemas.openxmlformats.org/presentationml/2006/main">
  <p:tag name="KSO_WM_DIAGRAM_VIRTUALLY_FRAME" val="{&quot;height&quot;:85,&quot;left&quot;:70,&quot;top&quot;:360,&quot;width&quot;:831}"/>
</p:tagLst>
</file>

<file path=ppt/tags/tag72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3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4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5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6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7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8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79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0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1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2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3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4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5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6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7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8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89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90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91.xml><?xml version="1.0" encoding="utf-8"?>
<p:tagLst xmlns:p="http://schemas.openxmlformats.org/presentationml/2006/main">
  <p:tag name="KSO_WM_DIAGRAM_VIRTUALLY_FRAME" val="{&quot;height&quot;:185,&quot;left&quot;:60,&quot;top&quot;:320,&quot;width&quot;:529}"/>
</p:tagLst>
</file>

<file path=ppt/tags/tag92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3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4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5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6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7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8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99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0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1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2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3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4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5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6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7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8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09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0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1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2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3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4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5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6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7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8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19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20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21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22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ags/tag123.xml><?xml version="1.0" encoding="utf-8"?>
<p:tagLst xmlns:p="http://schemas.openxmlformats.org/presentationml/2006/main">
  <p:tag name="KSO_WM_DIAGRAM_VIRTUALLY_FRAME" val="{&quot;height&quot;:315,&quot;left&quot;:60,&quot;top&quot;:120,&quot;width&quot;:87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5213</Words>
  <Application>WPS 演示</Application>
  <PresentationFormat/>
  <Paragraphs>399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周剑鑫</cp:lastModifiedBy>
  <cp:revision>25</cp:revision>
  <dcterms:created xsi:type="dcterms:W3CDTF">2026-05-31T07:03:00Z</dcterms:created>
  <dcterms:modified xsi:type="dcterms:W3CDTF">2026-06-01T03:31:57Z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{"Label":"1","ContentProducer":"001191110102MACQD9K64010000","ProduceID":"7645947511929474269","ReservedCode1":"","ContentPropagator":"","PropagateID":"","ReservedCode2":""}</vt:lpwstr>
  </property>
  <property fmtid="{D5CDD505-2E9C-101B-9397-08002B2CF9AE}" pid="3" name="ICV">
    <vt:lpwstr>DC2F60F73586411AA252CC879B1EDEA0_12</vt:lpwstr>
  </property>
  <property fmtid="{D5CDD505-2E9C-101B-9397-08002B2CF9AE}" pid="4" name="KSOProductBuildVer">
    <vt:lpwstr>2052-12.1.0.23542</vt:lpwstr>
  </property>
</Properties>
</file>